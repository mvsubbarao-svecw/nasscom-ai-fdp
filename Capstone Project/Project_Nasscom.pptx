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2"/>
  </p:notesMasterIdLst>
  <p:sldIdLst>
    <p:sldId id="256" r:id="rId2"/>
    <p:sldId id="258" r:id="rId3"/>
    <p:sldId id="259" r:id="rId4"/>
    <p:sldId id="261" r:id="rId5"/>
    <p:sldId id="300" r:id="rId6"/>
    <p:sldId id="326" r:id="rId7"/>
    <p:sldId id="327" r:id="rId8"/>
    <p:sldId id="260" r:id="rId9"/>
    <p:sldId id="297" r:id="rId10"/>
    <p:sldId id="298" r:id="rId11"/>
    <p:sldId id="299" r:id="rId12"/>
    <p:sldId id="292" r:id="rId13"/>
    <p:sldId id="262" r:id="rId14"/>
    <p:sldId id="296" r:id="rId15"/>
    <p:sldId id="328" r:id="rId16"/>
    <p:sldId id="329" r:id="rId17"/>
    <p:sldId id="330" r:id="rId18"/>
    <p:sldId id="331" r:id="rId19"/>
    <p:sldId id="263" r:id="rId20"/>
    <p:sldId id="257" r:id="rId21"/>
    <p:sldId id="334" r:id="rId22"/>
    <p:sldId id="335" r:id="rId23"/>
    <p:sldId id="336" r:id="rId24"/>
    <p:sldId id="337" r:id="rId25"/>
    <p:sldId id="270" r:id="rId26"/>
    <p:sldId id="265" r:id="rId27"/>
    <p:sldId id="267" r:id="rId28"/>
    <p:sldId id="271" r:id="rId29"/>
    <p:sldId id="295" r:id="rId30"/>
    <p:sldId id="291" r:id="rId31"/>
  </p:sldIdLst>
  <p:sldSz cx="18288000" cy="10287000"/>
  <p:notesSz cx="6858000" cy="9144000"/>
  <p:embeddedFontLst>
    <p:embeddedFont>
      <p:font typeface="ADLaM Display" panose="02010000000000000000" pitchFamily="2" charset="0"/>
      <p:regular r:id="rId33"/>
    </p:embeddedFont>
    <p:embeddedFont>
      <p:font typeface="Arial Black" panose="020B0A04020102020204" pitchFamily="34" charset="0"/>
      <p:bold r:id="rId34"/>
    </p:embeddedFont>
    <p:embeddedFont>
      <p:font typeface="Arial Bold" panose="020B0704020202020204" pitchFamily="34" charset="0"/>
      <p:bold r:id="rId35"/>
    </p:embeddedFont>
    <p:embeddedFont>
      <p:font typeface="Bookmania Bold Italics" panose="020B0604020202020204" charset="0"/>
      <p:regular r:id="rId36"/>
    </p:embeddedFont>
    <p:embeddedFont>
      <p:font typeface="Cambria Math" panose="02040503050406030204" pitchFamily="18" charset="0"/>
      <p:regular r:id="rId37"/>
    </p:embeddedFont>
    <p:embeddedFont>
      <p:font typeface="Montserrat" panose="00000500000000000000" pitchFamily="2" charset="0"/>
      <p:regular r:id="rId38"/>
      <p:bold r:id="rId39"/>
      <p:italic r:id="rId40"/>
      <p:boldItalic r:id="rId41"/>
    </p:embeddedFont>
    <p:embeddedFont>
      <p:font typeface="Times New Roman Bold" panose="02020803070505020304" pitchFamily="18" charset="0"/>
      <p:bold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77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9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10:43:29.1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10:43:53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10:44:44.6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1 961 24493,'770'515'0,"-770"-1433"0,-558 360 0,346 1519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10:53:56.1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24496,'0'643'0,"643"-643"0,-643-643 0,-643 643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8D6A44-B6D3-4686-A6BE-55F38A4D0911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CF1037-95E4-4A6B-94BD-42BFCB31A7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991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F1037-95E4-4A6B-94BD-42BFCB31A7E7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454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439F2-8F26-812C-1C87-A1E9E7E10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8B189B-E5A4-4EA4-EEE9-056C93F6A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62FAB3-9495-27D8-9C6B-F451C1BC6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8C464-C0D6-AD38-CCB4-2E159A5B2D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F1037-95E4-4A6B-94BD-42BFCB31A7E7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189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DA4DA-2B89-8BEA-E75A-2D22BE24B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6A354-0C60-39B4-6046-28D748CAAD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09528-BE8B-DF13-43EC-30256BC32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99F05-0C1B-04CB-CBDD-0AC7626990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F1037-95E4-4A6B-94BD-42BFCB31A7E7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267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7" Type="http://schemas.openxmlformats.org/officeDocument/2006/relationships/customXml" Target="../ink/ink3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customXml" Target="../ink/ink2.xml"/><Relationship Id="rId10" Type="http://schemas.openxmlformats.org/officeDocument/2006/relationships/image" Target="../media/image21.png"/><Relationship Id="rId4" Type="http://schemas.openxmlformats.org/officeDocument/2006/relationships/image" Target="../media/image170.png"/><Relationship Id="rId9" Type="http://schemas.openxmlformats.org/officeDocument/2006/relationships/customXml" Target="../ink/ink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compag.2020.105507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39329" y="2249900"/>
            <a:ext cx="18440400" cy="19058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400" b="1" dirty="0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AI-Driven Classification and Clustering of Dry Beans for </a:t>
            </a:r>
          </a:p>
          <a:p>
            <a:pPr algn="ctr">
              <a:lnSpc>
                <a:spcPct val="150000"/>
              </a:lnSpc>
            </a:pPr>
            <a:r>
              <a:rPr lang="en-US" sz="4400" b="1" dirty="0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Smart Agriculture Using Machine Learning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7200" y="5464126"/>
            <a:ext cx="16992600" cy="3508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endParaRPr lang="en-US" sz="3600" b="1" dirty="0">
              <a:solidFill>
                <a:srgbClr val="FF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/>
            <a:r>
              <a:rPr lang="en-US" sz="3200" b="1" dirty="0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Dr. M. Venkata Subbarao</a:t>
            </a:r>
          </a:p>
          <a:p>
            <a:pPr algn="ctr"/>
            <a:r>
              <a:rPr lang="en-US" sz="3200" b="1" dirty="0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Mr. P. Naga Raju</a:t>
            </a:r>
          </a:p>
          <a:p>
            <a:pPr algn="ctr"/>
            <a:r>
              <a:rPr lang="en-US" sz="3200" b="1" dirty="0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Dr. B. Murali Krishna</a:t>
            </a:r>
          </a:p>
          <a:p>
            <a:pPr algn="ctr"/>
            <a:r>
              <a:rPr lang="en-US" sz="3200" b="1" dirty="0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Mr. B. Veerendra</a:t>
            </a:r>
          </a:p>
          <a:p>
            <a:pPr algn="ctr"/>
            <a:endParaRPr lang="en-US" sz="3200" b="1" dirty="0"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/>
            <a:r>
              <a:rPr lang="en-US" sz="3200" b="1" dirty="0">
                <a:solidFill>
                  <a:srgbClr val="00B05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Shri Vishnu Engineering College for Women, Bhimavaram, Andhra Pradesh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45A577-796A-483B-A3F7-AE963CB6B714}"/>
              </a:ext>
            </a:extLst>
          </p:cNvPr>
          <p:cNvSpPr txBox="1"/>
          <p:nvPr/>
        </p:nvSpPr>
        <p:spPr>
          <a:xfrm>
            <a:off x="1752600" y="4858279"/>
            <a:ext cx="155640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C00000"/>
                </a:solidFill>
                <a:effectLst/>
                <a:latin typeface="Montserrat" panose="00000500000000000000" pitchFamily="2" charset="0"/>
              </a:rPr>
              <a:t>Focus Area: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Application of Artificial Intelligence (AI) for Agriculture Food Processing</a:t>
            </a:r>
            <a:endParaRPr lang="en-IN" sz="24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B57379-7654-AECE-C609-B9F711CBA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3" y="80965"/>
            <a:ext cx="2143125" cy="21431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FA19D4-99BD-0106-9424-F008671507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940"/>
          <a:stretch>
            <a:fillRect/>
          </a:stretch>
        </p:blipFill>
        <p:spPr>
          <a:xfrm>
            <a:off x="13228512" y="211638"/>
            <a:ext cx="4655845" cy="13357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7924800" y="409572"/>
            <a:ext cx="3767590" cy="752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dirty="0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Motivation</a:t>
            </a:r>
          </a:p>
        </p:txBody>
      </p:sp>
      <p:sp>
        <p:nvSpPr>
          <p:cNvPr id="3" name="Google Shape;121;g117e4c35321_1_12">
            <a:extLst>
              <a:ext uri="{FF2B5EF4-FFF2-40B4-BE49-F238E27FC236}">
                <a16:creationId xmlns:a16="http://schemas.microsoft.com/office/drawing/2014/main" id="{0FA3C672-22D3-3BC4-8EE3-48146D361992}"/>
              </a:ext>
            </a:extLst>
          </p:cNvPr>
          <p:cNvSpPr txBox="1">
            <a:spLocks/>
          </p:cNvSpPr>
          <p:nvPr/>
        </p:nvSpPr>
        <p:spPr>
          <a:xfrm>
            <a:off x="533400" y="1562100"/>
            <a:ext cx="10210800" cy="2057400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2440" indent="-342900" algn="just">
              <a:lnSpc>
                <a:spcPct val="200000"/>
              </a:lnSpc>
              <a:spcAft>
                <a:spcPts val="1200"/>
              </a:spcAft>
              <a:buSzPts val="1560"/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order to keep the economic value of Dry beans which have an important place in the agricultural economy, the efficiency of post-harvest industrial processes is very important. </a:t>
            </a:r>
          </a:p>
          <a:p>
            <a:pPr marL="472440" indent="-342900" algn="just">
              <a:lnSpc>
                <a:spcPct val="200000"/>
              </a:lnSpc>
              <a:spcAft>
                <a:spcPts val="1200"/>
              </a:spcAft>
              <a:buSzPts val="1560"/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this efficiency, new methods and technologies are needed for the separation and classification of dry beans. </a:t>
            </a:r>
          </a:p>
          <a:p>
            <a:pPr marL="472440" indent="-342900" algn="just">
              <a:lnSpc>
                <a:spcPct val="200000"/>
              </a:lnSpc>
              <a:spcAft>
                <a:spcPts val="1200"/>
              </a:spcAft>
              <a:buSzPts val="1560"/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dry beans address different markets, which increases the need for the classification of beans.</a:t>
            </a:r>
          </a:p>
          <a:p>
            <a:pPr marL="472440" indent="-342900" algn="just">
              <a:lnSpc>
                <a:spcPct val="200000"/>
              </a:lnSpc>
              <a:spcAft>
                <a:spcPts val="1200"/>
              </a:spcAft>
              <a:buSzPts val="1560"/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this study, it is aimed to develop a classification model different from traditional separation methods, based on  image  processing  and  artificial  intelligence.</a:t>
            </a:r>
            <a:endParaRPr lang="en-US" sz="2400" dirty="0"/>
          </a:p>
        </p:txBody>
      </p:sp>
      <p:pic>
        <p:nvPicPr>
          <p:cNvPr id="4" name="Picture 2" descr="Dry Edible Beans | CropWatch">
            <a:extLst>
              <a:ext uri="{FF2B5EF4-FFF2-40B4-BE49-F238E27FC236}">
                <a16:creationId xmlns:a16="http://schemas.microsoft.com/office/drawing/2014/main" id="{964D03DD-102D-FF20-68EA-84FBB581B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2389" y="1578076"/>
            <a:ext cx="6126203" cy="3260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ow to Cook Canned and Dried Beans - FoodPrint">
            <a:extLst>
              <a:ext uri="{FF2B5EF4-FFF2-40B4-BE49-F238E27FC236}">
                <a16:creationId xmlns:a16="http://schemas.microsoft.com/office/drawing/2014/main" id="{8072D550-625E-76EF-FCE3-FAA2B76AE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0434" y="5420034"/>
            <a:ext cx="6126202" cy="3990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3951601" y="9534525"/>
            <a:ext cx="4114800" cy="547688"/>
          </a:xfrm>
          <a:custGeom>
            <a:avLst/>
            <a:gdLst/>
            <a:ahLst/>
            <a:cxnLst/>
            <a:rect l="l" t="t" r="r" b="b"/>
            <a:pathLst>
              <a:path w="5486400" h="730250">
                <a:moveTo>
                  <a:pt x="0" y="0"/>
                </a:moveTo>
                <a:lnTo>
                  <a:pt x="5486400" y="0"/>
                </a:lnTo>
                <a:lnTo>
                  <a:pt x="5486400" y="730250"/>
                </a:lnTo>
                <a:lnTo>
                  <a:pt x="0" y="730250"/>
                </a:lnTo>
                <a:close/>
              </a:path>
            </a:pathLst>
          </a:custGeom>
          <a:blipFill>
            <a:blip r:embed="rId2">
              <a:alphaModFix amt="0"/>
            </a:blip>
            <a:stretch>
              <a:fillRect t="-96391" b="-9639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4724400" y="181927"/>
            <a:ext cx="11156329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dirty="0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&amp; Objectives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03A000-72CD-1FC3-AC8C-5B206BF2C3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725"/>
          <a:stretch>
            <a:fillRect/>
          </a:stretch>
        </p:blipFill>
        <p:spPr>
          <a:xfrm>
            <a:off x="221599" y="1012189"/>
            <a:ext cx="17761601" cy="90990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10100" y="101620"/>
            <a:ext cx="8963454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1" dirty="0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64B60D-42E6-DC8F-255E-DF2764692614}"/>
              </a:ext>
            </a:extLst>
          </p:cNvPr>
          <p:cNvSpPr txBox="1"/>
          <p:nvPr/>
        </p:nvSpPr>
        <p:spPr>
          <a:xfrm>
            <a:off x="3200400" y="9656458"/>
            <a:ext cx="2362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Classification</a:t>
            </a: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63E0B9-6C4C-9E4C-C61C-A8D1F7F01438}"/>
              </a:ext>
            </a:extLst>
          </p:cNvPr>
          <p:cNvSpPr txBox="1"/>
          <p:nvPr/>
        </p:nvSpPr>
        <p:spPr>
          <a:xfrm>
            <a:off x="12770501" y="9608999"/>
            <a:ext cx="2362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Clustering</a:t>
            </a:r>
            <a:endParaRPr lang="en-IN" sz="2800" dirty="0">
              <a:solidFill>
                <a:srgbClr val="FF0000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99D019D-A431-C40D-E15B-1CCF6D7E7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00" y="792827"/>
            <a:ext cx="17380600" cy="87946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079BF-C06C-D35F-3E0F-8167A85E5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1D3694F4-0E71-7467-1C74-7FA3FF1D9653}"/>
              </a:ext>
            </a:extLst>
          </p:cNvPr>
          <p:cNvSpPr txBox="1"/>
          <p:nvPr/>
        </p:nvSpPr>
        <p:spPr>
          <a:xfrm>
            <a:off x="3687431" y="555185"/>
            <a:ext cx="11156329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dirty="0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 Information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742CEA-6942-4D8C-00F7-E3675B181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866900"/>
            <a:ext cx="7352681" cy="71628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6051CB1-A32C-A726-6DAD-FE4260446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11139"/>
              </p:ext>
            </p:extLst>
          </p:nvPr>
        </p:nvGraphicFramePr>
        <p:xfrm>
          <a:off x="609600" y="1866901"/>
          <a:ext cx="9753599" cy="73152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6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60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868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Arial Black" panose="020B0A04020102020204" pitchFamily="34" charset="0"/>
                        </a:rPr>
                        <a:t>S. No.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Arial Black" panose="020B0A04020102020204" pitchFamily="34" charset="0"/>
                        </a:rPr>
                        <a:t>Dry Bean Class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Arial Black" panose="020B0A04020102020204" pitchFamily="34" charset="0"/>
                        </a:rPr>
                        <a:t>Quantity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465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Arial Black" panose="020B0A04020102020204" pitchFamily="34" charset="0"/>
                        </a:rPr>
                        <a:t>1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Arial Black" panose="020B0A04020102020204" pitchFamily="34" charset="0"/>
                        </a:rPr>
                        <a:t>Sira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Arial Black" panose="020B0A04020102020204" pitchFamily="34" charset="0"/>
                        </a:rPr>
                        <a:t>2636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511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Arial Black" panose="020B0A04020102020204" pitchFamily="34" charset="0"/>
                        </a:rPr>
                        <a:t>2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Arial Black" panose="020B0A04020102020204" pitchFamily="34" charset="0"/>
                        </a:rPr>
                        <a:t>Horoz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Arial Black" panose="020B0A04020102020204" pitchFamily="34" charset="0"/>
                        </a:rPr>
                        <a:t>1928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511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Arial Black" panose="020B0A04020102020204" pitchFamily="34" charset="0"/>
                        </a:rPr>
                        <a:t>3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Arial Black" panose="020B0A04020102020204" pitchFamily="34" charset="0"/>
                        </a:rPr>
                        <a:t>Call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Arial Black" panose="020B0A04020102020204" pitchFamily="34" charset="0"/>
                        </a:rPr>
                        <a:t>1630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465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Arial Black" panose="020B0A04020102020204" pitchFamily="34" charset="0"/>
                        </a:rPr>
                        <a:t>4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Arial Black" panose="020B0A04020102020204" pitchFamily="34" charset="0"/>
                        </a:rPr>
                        <a:t>Dermason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Arial Black" panose="020B0A04020102020204" pitchFamily="34" charset="0"/>
                        </a:rPr>
                        <a:t>3546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511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Arial Black" panose="020B0A04020102020204" pitchFamily="34" charset="0"/>
                        </a:rPr>
                        <a:t>5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Arial Black" panose="020B0A04020102020204" pitchFamily="34" charset="0"/>
                        </a:rPr>
                        <a:t>Bombay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Arial Black" panose="020B0A04020102020204" pitchFamily="34" charset="0"/>
                        </a:rPr>
                        <a:t>522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6511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Arial Black" panose="020B0A04020102020204" pitchFamily="34" charset="0"/>
                        </a:rPr>
                        <a:t>6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Arial Black" panose="020B0A04020102020204" pitchFamily="34" charset="0"/>
                        </a:rPr>
                        <a:t>Barbunya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Arial Black" panose="020B0A04020102020204" pitchFamily="34" charset="0"/>
                        </a:rPr>
                        <a:t>1322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6465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Arial Black" panose="020B0A04020102020204" pitchFamily="34" charset="0"/>
                        </a:rPr>
                        <a:t>7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Arial Black" panose="020B0A04020102020204" pitchFamily="34" charset="0"/>
                        </a:rPr>
                        <a:t>Seker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Arial Black" panose="020B0A04020102020204" pitchFamily="34" charset="0"/>
                        </a:rPr>
                        <a:t>2027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6511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Arial Black" panose="020B0A04020102020204" pitchFamily="34" charset="0"/>
                        </a:rPr>
                        <a:t> 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 Black" panose="020B0A04020102020204" pitchFamily="34" charset="0"/>
                        </a:rPr>
                        <a:t>Total</a:t>
                      </a:r>
                      <a:endParaRPr lang="en-US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 Black" panose="020B0A040201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 Black" panose="020B0A04020102020204" pitchFamily="34" charset="0"/>
                        </a:rPr>
                        <a:t>13611</a:t>
                      </a:r>
                      <a:endParaRPr lang="en-US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 Black" panose="020B0A040201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439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307" y="584360"/>
            <a:ext cx="6590694" cy="947424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54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Feature Extraction</a:t>
            </a:r>
            <a:endParaRPr lang="en-IN" sz="5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90C62C8-5936-820A-946B-838BABDC61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1841596"/>
                  </p:ext>
                </p:extLst>
              </p:nvPr>
            </p:nvGraphicFramePr>
            <p:xfrm>
              <a:off x="182679" y="1943100"/>
              <a:ext cx="17922641" cy="817845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45021">
                      <a:extLst>
                        <a:ext uri="{9D8B030D-6E8A-4147-A177-3AD203B41FA5}">
                          <a16:colId xmlns:a16="http://schemas.microsoft.com/office/drawing/2014/main" val="1904986708"/>
                        </a:ext>
                      </a:extLst>
                    </a:gridCol>
                    <a:gridCol w="2183872">
                      <a:extLst>
                        <a:ext uri="{9D8B030D-6E8A-4147-A177-3AD203B41FA5}">
                          <a16:colId xmlns:a16="http://schemas.microsoft.com/office/drawing/2014/main" val="2311694202"/>
                        </a:ext>
                      </a:extLst>
                    </a:gridCol>
                    <a:gridCol w="6318228">
                      <a:extLst>
                        <a:ext uri="{9D8B030D-6E8A-4147-A177-3AD203B41FA5}">
                          <a16:colId xmlns:a16="http://schemas.microsoft.com/office/drawing/2014/main" val="3829752931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402857882"/>
                        </a:ext>
                      </a:extLst>
                    </a:gridCol>
                    <a:gridCol w="2667000">
                      <a:extLst>
                        <a:ext uri="{9D8B030D-6E8A-4147-A177-3AD203B41FA5}">
                          <a16:colId xmlns:a16="http://schemas.microsoft.com/office/drawing/2014/main" val="1278867136"/>
                        </a:ext>
                      </a:extLst>
                    </a:gridCol>
                    <a:gridCol w="4389320">
                      <a:extLst>
                        <a:ext uri="{9D8B030D-6E8A-4147-A177-3AD203B41FA5}">
                          <a16:colId xmlns:a16="http://schemas.microsoft.com/office/drawing/2014/main" val="3713582982"/>
                        </a:ext>
                      </a:extLst>
                    </a:gridCol>
                  </a:tblGrid>
                  <a:tr h="593791">
                    <a:tc gridSpan="3"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dirty="0">
                              <a:effectLst/>
                              <a:latin typeface="+mn-lt"/>
                            </a:rPr>
                            <a:t>Morphological</a:t>
                          </a:r>
                          <a:endParaRPr lang="en-IN" sz="20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dirty="0">
                              <a:effectLst/>
                              <a:latin typeface="+mn-lt"/>
                            </a:rPr>
                            <a:t>Morphological / Shape</a:t>
                          </a:r>
                          <a:endParaRPr lang="en-IN" sz="20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63437997"/>
                      </a:ext>
                    </a:extLst>
                  </a:tr>
                  <a:tr h="435769"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b="1" dirty="0">
                              <a:effectLst/>
                              <a:latin typeface="+mn-lt"/>
                            </a:rPr>
                            <a:t>S. No.</a:t>
                          </a:r>
                          <a:endParaRPr lang="en-IN" sz="2000" b="1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b="1" dirty="0">
                              <a:effectLst/>
                              <a:latin typeface="+mn-lt"/>
                            </a:rPr>
                            <a:t>Feature</a:t>
                          </a:r>
                          <a:endParaRPr lang="en-IN" sz="2000" b="1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b="1" dirty="0">
                              <a:effectLst/>
                              <a:latin typeface="+mn-lt"/>
                            </a:rPr>
                            <a:t>Expression</a:t>
                          </a:r>
                          <a:endParaRPr lang="en-IN" sz="2000" b="1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b="1" dirty="0">
                              <a:effectLst/>
                              <a:latin typeface="+mn-lt"/>
                            </a:rPr>
                            <a:t>S. No.</a:t>
                          </a:r>
                          <a:endParaRPr lang="en-IN" sz="2000" b="1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b="1" dirty="0">
                              <a:effectLst/>
                              <a:latin typeface="+mn-lt"/>
                            </a:rPr>
                            <a:t>Feature</a:t>
                          </a:r>
                          <a:endParaRPr lang="en-IN" sz="2000" b="1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b="1" dirty="0">
                              <a:effectLst/>
                              <a:latin typeface="+mn-lt"/>
                            </a:rPr>
                            <a:t>Expression</a:t>
                          </a:r>
                          <a:endParaRPr lang="en-IN" sz="2000" b="1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extLst>
                      <a:ext uri="{0D108BD9-81ED-4DB2-BD59-A6C34878D82A}">
                        <a16:rowId xmlns:a16="http://schemas.microsoft.com/office/drawing/2014/main" val="697054604"/>
                      </a:ext>
                    </a:extLst>
                  </a:tr>
                  <a:tr h="709209"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>
                              <a:effectLst/>
                              <a:latin typeface="+mn-lt"/>
                            </a:rPr>
                            <a:t>Area (A)</a:t>
                          </a:r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>
                                    <a:effectLst/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GB" sz="2000">
                                    <a:effectLst/>
                                    <a:latin typeface="Cambria Math" panose="02040503050406030204" pitchFamily="18" charset="0"/>
                                  </a:rPr>
                                  <m:t>𝐿𝑊</m:t>
                                </m:r>
                              </m:oMath>
                            </m:oMathPara>
                          </a14:m>
                          <a:endParaRPr lang="en-IN" sz="20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GB" sz="20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dirty="0">
                            <a:solidFill>
                              <a:schemeClr val="bg1"/>
                            </a:solidFill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>
                              <a:effectLst/>
                              <a:latin typeface="+mn-lt"/>
                            </a:rPr>
                            <a:t>Compactness (CO)</a:t>
                          </a:r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IN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IN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en-GB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extLst>
                      <a:ext uri="{0D108BD9-81ED-4DB2-BD59-A6C34878D82A}">
                        <a16:rowId xmlns:a16="http://schemas.microsoft.com/office/drawing/2014/main" val="3008562832"/>
                      </a:ext>
                    </a:extLst>
                  </a:tr>
                  <a:tr h="1140700"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dirty="0">
                              <a:effectLst/>
                              <a:latin typeface="+mn-lt"/>
                            </a:rPr>
                            <a:t>Equivalent diameter </a:t>
                          </a:r>
                        </a:p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dirty="0">
                              <a:effectLst/>
                              <a:latin typeface="+mn-lt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GB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oMath>
                          </a14:m>
                          <a:r>
                            <a:rPr lang="en-GB" sz="2000" dirty="0">
                              <a:effectLst/>
                              <a:latin typeface="+mn-lt"/>
                            </a:rPr>
                            <a:t>)</a:t>
                          </a:r>
                          <a:endParaRPr lang="en-IN" sz="20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IN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4∗</m:t>
                                        </m:r>
                                        <m:r>
                                          <a:rPr lang="en-GB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num>
                                      <m:den>
                                        <m:r>
                                          <a:rPr lang="en-GB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en-IN" sz="20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GB" sz="20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dirty="0">
                            <a:solidFill>
                              <a:schemeClr val="bg1"/>
                            </a:solidFill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dirty="0">
                              <a:effectLst/>
                              <a:latin typeface="+mn-lt"/>
                            </a:rPr>
                            <a:t>Minor axis length (l)</a:t>
                          </a:r>
                          <a:endParaRPr lang="en-IN" sz="20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just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>
                              <a:effectLst/>
                              <a:latin typeface="+mn-lt"/>
                            </a:rPr>
                            <a:t>The length of the longest line </a:t>
                          </a:r>
                          <a14:m>
                            <m:oMath xmlns:m="http://schemas.openxmlformats.org/officeDocument/2006/math">
                              <m:r>
                                <a:rPr lang="en-GB" sz="2000">
                                  <a:effectLst/>
                                  <a:latin typeface="Cambria Math" panose="02040503050406030204" pitchFamily="18" charset="0"/>
                                </a:rPr>
                                <m:t>⊥</m:t>
                              </m:r>
                            </m:oMath>
                          </a14:m>
                          <a:r>
                            <a:rPr lang="en-GB" sz="2000">
                              <a:effectLst/>
                              <a:latin typeface="+mn-lt"/>
                            </a:rPr>
                            <a:t> to major axis (L)</a:t>
                          </a:r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extLst>
                      <a:ext uri="{0D108BD9-81ED-4DB2-BD59-A6C34878D82A}">
                        <a16:rowId xmlns:a16="http://schemas.microsoft.com/office/drawing/2014/main" val="227041847"/>
                      </a:ext>
                    </a:extLst>
                  </a:tr>
                  <a:tr h="789725"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>
                              <a:effectLst/>
                              <a:latin typeface="+mn-lt"/>
                            </a:rPr>
                            <a:t>Convex area (C)</a:t>
                          </a:r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just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dirty="0">
                              <a:effectLst/>
                              <a:latin typeface="+mn-lt"/>
                            </a:rPr>
                            <a:t>The quantity of pixels inside the smallest convex polygon capable of containing the area of a single bean grain.</a:t>
                          </a:r>
                          <a:endParaRPr lang="en-IN" sz="20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GB" sz="20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dirty="0">
                            <a:solidFill>
                              <a:schemeClr val="bg1"/>
                            </a:solidFill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dirty="0">
                              <a:effectLst/>
                              <a:latin typeface="+mn-lt"/>
                            </a:rPr>
                            <a:t>Aspect ratio (K)</a:t>
                          </a:r>
                          <a:endParaRPr lang="en-IN" sz="20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IN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20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extLst>
                      <a:ext uri="{0D108BD9-81ED-4DB2-BD59-A6C34878D82A}">
                        <a16:rowId xmlns:a16="http://schemas.microsoft.com/office/drawing/2014/main" val="2437665599"/>
                      </a:ext>
                    </a:extLst>
                  </a:tr>
                  <a:tr h="1123145"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>
                              <a:effectLst/>
                              <a:latin typeface="+mn-lt"/>
                            </a:rPr>
                            <a:t>Solidity (S)</a:t>
                          </a:r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just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IN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num>
                                  <m:den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20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GB" sz="20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>
                            <a:solidFill>
                              <a:schemeClr val="bg1"/>
                            </a:solidFill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dirty="0">
                              <a:effectLst/>
                              <a:latin typeface="+mn-lt"/>
                            </a:rPr>
                            <a:t>Eccentricity (</a:t>
                          </a:r>
                          <a:r>
                            <a:rPr lang="en-GB" sz="2000" dirty="0" err="1">
                              <a:effectLst/>
                              <a:latin typeface="+mn-lt"/>
                            </a:rPr>
                            <a:t>Ec</a:t>
                          </a:r>
                          <a:r>
                            <a:rPr lang="en-GB" sz="2000" dirty="0">
                              <a:effectLst/>
                              <a:latin typeface="+mn-lt"/>
                            </a:rPr>
                            <a:t>)</a:t>
                          </a:r>
                          <a:endParaRPr lang="en-IN" sz="20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IN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f>
                                      <m:fPr>
                                        <m:ctrlPr>
                                          <a:rPr lang="en-IN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n-IN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GB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e>
                                          <m:sup>
                                            <m:r>
                                              <a:rPr lang="en-GB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IN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GB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e>
                                          <m:sup>
                                            <m:r>
                                              <a:rPr lang="en-GB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en-IN" sz="20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extLst>
                      <a:ext uri="{0D108BD9-81ED-4DB2-BD59-A6C34878D82A}">
                        <a16:rowId xmlns:a16="http://schemas.microsoft.com/office/drawing/2014/main" val="736352177"/>
                      </a:ext>
                    </a:extLst>
                  </a:tr>
                  <a:tr h="1156672"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>
                              <a:effectLst/>
                              <a:latin typeface="+mn-lt"/>
                            </a:rPr>
                            <a:t>Extent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GB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a14:m>
                          <a:r>
                            <a:rPr lang="en-GB" sz="2000">
                              <a:effectLst/>
                              <a:latin typeface="+mn-lt"/>
                            </a:rPr>
                            <a:t>)</a:t>
                          </a:r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just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IN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IN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GB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IN" sz="2000" dirty="0">
                            <a:effectLst/>
                            <a:latin typeface="+mn-lt"/>
                          </a:endParaRPr>
                        </a:p>
                        <a:p>
                          <a:pPr algn="just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dirty="0">
                              <a:effectLst/>
                              <a:latin typeface="+mn-lt"/>
                            </a:rPr>
                            <a:t>where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GB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oMath>
                          </a14:m>
                          <a:r>
                            <a:rPr lang="en-GB" sz="2000" dirty="0">
                              <a:effectLst/>
                              <a:latin typeface="+mn-lt"/>
                            </a:rPr>
                            <a:t> is area of bounding rectangle</a:t>
                          </a:r>
                          <a:endParaRPr lang="en-IN" sz="20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b="1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 b="1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𝐒</m:t>
                                    </m:r>
                                  </m:e>
                                  <m:sub>
                                    <m:r>
                                      <a:rPr lang="en-GB" sz="2000" b="1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b="1" dirty="0">
                            <a:solidFill>
                              <a:schemeClr val="bg1"/>
                            </a:solidFill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dirty="0">
                              <a:effectLst/>
                              <a:latin typeface="+mn-lt"/>
                            </a:rPr>
                            <a:t>Shape Factor 1</a:t>
                          </a:r>
                          <a:endParaRPr lang="en-IN" sz="20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IN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20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extLst>
                      <a:ext uri="{0D108BD9-81ED-4DB2-BD59-A6C34878D82A}">
                        <a16:rowId xmlns:a16="http://schemas.microsoft.com/office/drawing/2014/main" val="4066507006"/>
                      </a:ext>
                    </a:extLst>
                  </a:tr>
                  <a:tr h="719240"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>
                              <a:effectLst/>
                              <a:latin typeface="+mn-lt"/>
                            </a:rPr>
                            <a:t>Perimeter (P)</a:t>
                          </a:r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just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dirty="0">
                              <a:effectLst/>
                              <a:latin typeface="+mn-lt"/>
                            </a:rPr>
                            <a:t>Bean perimeter is measured as its border length</a:t>
                          </a:r>
                          <a:endParaRPr lang="en-IN" sz="20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b="1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 b="1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𝐒</m:t>
                                    </m:r>
                                  </m:e>
                                  <m:sub>
                                    <m:r>
                                      <a:rPr lang="en-GB" sz="2000" b="1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b="1" dirty="0">
                            <a:solidFill>
                              <a:schemeClr val="bg1"/>
                            </a:solidFill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dirty="0">
                              <a:effectLst/>
                              <a:latin typeface="+mn-lt"/>
                            </a:rPr>
                            <a:t>Shape Factor 2</a:t>
                          </a:r>
                          <a:endParaRPr lang="en-IN" sz="20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IN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num>
                                  <m:den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20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extLst>
                      <a:ext uri="{0D108BD9-81ED-4DB2-BD59-A6C34878D82A}">
                        <a16:rowId xmlns:a16="http://schemas.microsoft.com/office/drawing/2014/main" val="3537152644"/>
                      </a:ext>
                    </a:extLst>
                  </a:tr>
                  <a:tr h="714093"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>
                              <a:effectLst/>
                              <a:latin typeface="+mn-lt"/>
                            </a:rPr>
                            <a:t>Roundness (R)</a:t>
                          </a:r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just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IN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IN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p>
                                        <m:r>
                                          <a:rPr lang="en-GB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b="1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 b="1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𝐒</m:t>
                                    </m:r>
                                  </m:e>
                                  <m:sub>
                                    <m:r>
                                      <a:rPr lang="en-GB" sz="2000" b="1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b="1" dirty="0">
                            <a:solidFill>
                              <a:schemeClr val="bg1"/>
                            </a:solidFill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>
                              <a:effectLst/>
                              <a:latin typeface="+mn-lt"/>
                            </a:rPr>
                            <a:t>Shape Factor 3</a:t>
                          </a:r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IN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num>
                                  <m:den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sSup>
                                      <m:sSupPr>
                                        <m:ctrlPr>
                                          <a:rPr lang="en-IN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p>
                                        <m:r>
                                          <a:rPr lang="en-GB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IN" sz="20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extLst>
                      <a:ext uri="{0D108BD9-81ED-4DB2-BD59-A6C34878D82A}">
                        <a16:rowId xmlns:a16="http://schemas.microsoft.com/office/drawing/2014/main" val="1376914677"/>
                      </a:ext>
                    </a:extLst>
                  </a:tr>
                  <a:tr h="796108"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>
                              <a:effectLst/>
                              <a:latin typeface="+mn-lt"/>
                            </a:rPr>
                            <a:t>Major axis length (L)</a:t>
                          </a:r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just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>
                              <a:effectLst/>
                              <a:latin typeface="+mn-lt"/>
                            </a:rPr>
                            <a:t>The length of the longest line that can be traced from a bean.</a:t>
                          </a:r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b="1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 b="1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𝐒</m:t>
                                    </m:r>
                                  </m:e>
                                  <m:sub>
                                    <m:r>
                                      <a:rPr lang="en-GB" sz="2000" b="1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b="1" dirty="0">
                            <a:solidFill>
                              <a:schemeClr val="bg1"/>
                            </a:solidFill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>
                              <a:effectLst/>
                              <a:latin typeface="+mn-lt"/>
                            </a:rPr>
                            <a:t>Shape Factor 4</a:t>
                          </a:r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IN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num>
                                  <m:den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GB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𝐿𝑙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20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extLst>
                      <a:ext uri="{0D108BD9-81ED-4DB2-BD59-A6C34878D82A}">
                        <a16:rowId xmlns:a16="http://schemas.microsoft.com/office/drawing/2014/main" val="30428388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90C62C8-5936-820A-946B-838BABDC61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1841596"/>
                  </p:ext>
                </p:extLst>
              </p:nvPr>
            </p:nvGraphicFramePr>
            <p:xfrm>
              <a:off x="182679" y="1943100"/>
              <a:ext cx="17922641" cy="817845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45021">
                      <a:extLst>
                        <a:ext uri="{9D8B030D-6E8A-4147-A177-3AD203B41FA5}">
                          <a16:colId xmlns:a16="http://schemas.microsoft.com/office/drawing/2014/main" val="1904986708"/>
                        </a:ext>
                      </a:extLst>
                    </a:gridCol>
                    <a:gridCol w="2183872">
                      <a:extLst>
                        <a:ext uri="{9D8B030D-6E8A-4147-A177-3AD203B41FA5}">
                          <a16:colId xmlns:a16="http://schemas.microsoft.com/office/drawing/2014/main" val="2311694202"/>
                        </a:ext>
                      </a:extLst>
                    </a:gridCol>
                    <a:gridCol w="6318228">
                      <a:extLst>
                        <a:ext uri="{9D8B030D-6E8A-4147-A177-3AD203B41FA5}">
                          <a16:colId xmlns:a16="http://schemas.microsoft.com/office/drawing/2014/main" val="3829752931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402857882"/>
                        </a:ext>
                      </a:extLst>
                    </a:gridCol>
                    <a:gridCol w="2667000">
                      <a:extLst>
                        <a:ext uri="{9D8B030D-6E8A-4147-A177-3AD203B41FA5}">
                          <a16:colId xmlns:a16="http://schemas.microsoft.com/office/drawing/2014/main" val="1278867136"/>
                        </a:ext>
                      </a:extLst>
                    </a:gridCol>
                    <a:gridCol w="4389320">
                      <a:extLst>
                        <a:ext uri="{9D8B030D-6E8A-4147-A177-3AD203B41FA5}">
                          <a16:colId xmlns:a16="http://schemas.microsoft.com/office/drawing/2014/main" val="3713582982"/>
                        </a:ext>
                      </a:extLst>
                    </a:gridCol>
                  </a:tblGrid>
                  <a:tr h="593791">
                    <a:tc gridSpan="3"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dirty="0">
                              <a:effectLst/>
                              <a:latin typeface="+mn-lt"/>
                            </a:rPr>
                            <a:t>Morphological</a:t>
                          </a:r>
                          <a:endParaRPr lang="en-IN" sz="20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dirty="0">
                              <a:effectLst/>
                              <a:latin typeface="+mn-lt"/>
                            </a:rPr>
                            <a:t>Morphological / Shape</a:t>
                          </a:r>
                          <a:endParaRPr lang="en-IN" sz="20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63437997"/>
                      </a:ext>
                    </a:extLst>
                  </a:tr>
                  <a:tr h="435769"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b="1" dirty="0">
                              <a:effectLst/>
                              <a:latin typeface="+mn-lt"/>
                            </a:rPr>
                            <a:t>S. No.</a:t>
                          </a:r>
                          <a:endParaRPr lang="en-IN" sz="2000" b="1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b="1" dirty="0">
                              <a:effectLst/>
                              <a:latin typeface="+mn-lt"/>
                            </a:rPr>
                            <a:t>Feature</a:t>
                          </a:r>
                          <a:endParaRPr lang="en-IN" sz="2000" b="1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b="1" dirty="0">
                              <a:effectLst/>
                              <a:latin typeface="+mn-lt"/>
                            </a:rPr>
                            <a:t>Expression</a:t>
                          </a:r>
                          <a:endParaRPr lang="en-IN" sz="2000" b="1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b="1" dirty="0">
                              <a:effectLst/>
                              <a:latin typeface="+mn-lt"/>
                            </a:rPr>
                            <a:t>S. No.</a:t>
                          </a:r>
                          <a:endParaRPr lang="en-IN" sz="2000" b="1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b="1" dirty="0">
                              <a:effectLst/>
                              <a:latin typeface="+mn-lt"/>
                            </a:rPr>
                            <a:t>Feature</a:t>
                          </a:r>
                          <a:endParaRPr lang="en-IN" sz="2000" b="1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b="1" dirty="0">
                              <a:effectLst/>
                              <a:latin typeface="+mn-lt"/>
                            </a:rPr>
                            <a:t>Expression</a:t>
                          </a:r>
                          <a:endParaRPr lang="en-IN" sz="2000" b="1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extLst>
                      <a:ext uri="{0D108BD9-81ED-4DB2-BD59-A6C34878D82A}">
                        <a16:rowId xmlns:a16="http://schemas.microsoft.com/office/drawing/2014/main" val="697054604"/>
                      </a:ext>
                    </a:extLst>
                  </a:tr>
                  <a:tr h="7092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532" t="-145299" r="-1467021" b="-9188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>
                              <a:effectLst/>
                              <a:latin typeface="+mn-lt"/>
                            </a:rPr>
                            <a:t>Area (A)</a:t>
                          </a:r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52697" t="-145299" r="-131214" b="-9188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792500" t="-145299" r="-581000" b="-9188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>
                              <a:effectLst/>
                              <a:latin typeface="+mn-lt"/>
                            </a:rPr>
                            <a:t>Compactness (CO)</a:t>
                          </a:r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308183" t="-145299" r="-555" b="-9188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8562832"/>
                      </a:ext>
                    </a:extLst>
                  </a:tr>
                  <a:tr h="114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532" t="-153476" r="-1467021" b="-4748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52793" t="-153476" r="-670391" b="-4748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52697" t="-153476" r="-131214" b="-4748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792500" t="-153476" r="-581000" b="-4748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dirty="0">
                              <a:effectLst/>
                              <a:latin typeface="+mn-lt"/>
                            </a:rPr>
                            <a:t>Minor axis length (l)</a:t>
                          </a:r>
                          <a:endParaRPr lang="en-IN" sz="20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308183" t="-153476" r="-555" b="-4748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041847"/>
                      </a:ext>
                    </a:extLst>
                  </a:tr>
                  <a:tr h="7897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532" t="-364615" r="-1467021" b="-58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>
                              <a:effectLst/>
                              <a:latin typeface="+mn-lt"/>
                            </a:rPr>
                            <a:t>Convex area (C)</a:t>
                          </a:r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just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dirty="0">
                              <a:effectLst/>
                              <a:latin typeface="+mn-lt"/>
                            </a:rPr>
                            <a:t>The quantity of pixels inside the smallest convex polygon capable of containing the area of a single bean grain.</a:t>
                          </a:r>
                          <a:endParaRPr lang="en-IN" sz="20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792500" t="-364615" r="-581000" b="-58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dirty="0">
                              <a:effectLst/>
                              <a:latin typeface="+mn-lt"/>
                            </a:rPr>
                            <a:t>Aspect ratio (K)</a:t>
                          </a:r>
                          <a:endParaRPr lang="en-IN" sz="20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308183" t="-364615" r="-555" b="-58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7665599"/>
                      </a:ext>
                    </a:extLst>
                  </a:tr>
                  <a:tr h="11231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532" t="-328261" r="-1467021" b="-311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>
                              <a:effectLst/>
                              <a:latin typeface="+mn-lt"/>
                            </a:rPr>
                            <a:t>Solidity (S)</a:t>
                          </a:r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52697" t="-328261" r="-131214" b="-311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792500" t="-328261" r="-581000" b="-311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dirty="0">
                              <a:effectLst/>
                              <a:latin typeface="+mn-lt"/>
                            </a:rPr>
                            <a:t>Eccentricity (</a:t>
                          </a:r>
                          <a:r>
                            <a:rPr lang="en-GB" sz="2000" dirty="0" err="1">
                              <a:effectLst/>
                              <a:latin typeface="+mn-lt"/>
                            </a:rPr>
                            <a:t>Ec</a:t>
                          </a:r>
                          <a:r>
                            <a:rPr lang="en-GB" sz="2000" dirty="0">
                              <a:effectLst/>
                              <a:latin typeface="+mn-lt"/>
                            </a:rPr>
                            <a:t>)</a:t>
                          </a:r>
                          <a:endParaRPr lang="en-IN" sz="20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308183" t="-328261" r="-555" b="-3119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6352177"/>
                      </a:ext>
                    </a:extLst>
                  </a:tr>
                  <a:tr h="1156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532" t="-414737" r="-1467021" b="-20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52793" t="-414737" r="-670391" b="-20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52697" t="-414737" r="-131214" b="-20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792500" t="-414737" r="-581000" b="-20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dirty="0">
                              <a:effectLst/>
                              <a:latin typeface="+mn-lt"/>
                            </a:rPr>
                            <a:t>Shape Factor 1</a:t>
                          </a:r>
                          <a:endParaRPr lang="en-IN" sz="20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308183" t="-414737" r="-555" b="-2021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6507006"/>
                      </a:ext>
                    </a:extLst>
                  </a:tr>
                  <a:tr h="719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532" t="-828814" r="-1467021" b="-2254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>
                              <a:effectLst/>
                              <a:latin typeface="+mn-lt"/>
                            </a:rPr>
                            <a:t>Perimeter (P)</a:t>
                          </a:r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just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dirty="0">
                              <a:effectLst/>
                              <a:latin typeface="+mn-lt"/>
                            </a:rPr>
                            <a:t>Bean perimeter is measured as its border length</a:t>
                          </a:r>
                          <a:endParaRPr lang="en-IN" sz="20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792500" t="-828814" r="-581000" b="-2254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 dirty="0">
                              <a:effectLst/>
                              <a:latin typeface="+mn-lt"/>
                            </a:rPr>
                            <a:t>Shape Factor 2</a:t>
                          </a:r>
                          <a:endParaRPr lang="en-IN" sz="20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308183" t="-828814" r="-555" b="-2254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7152644"/>
                      </a:ext>
                    </a:extLst>
                  </a:tr>
                  <a:tr h="7140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532" t="-936752" r="-1467021" b="-1273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>
                              <a:effectLst/>
                              <a:latin typeface="+mn-lt"/>
                            </a:rPr>
                            <a:t>Roundness (R)</a:t>
                          </a:r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52697" t="-936752" r="-131214" b="-1273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792500" t="-936752" r="-581000" b="-1273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>
                              <a:effectLst/>
                              <a:latin typeface="+mn-lt"/>
                            </a:rPr>
                            <a:t>Shape Factor 3</a:t>
                          </a:r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308183" t="-936752" r="-555" b="-1273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6914677"/>
                      </a:ext>
                    </a:extLst>
                  </a:tr>
                  <a:tr h="7961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532" t="-925954" r="-1467021" b="-137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>
                              <a:effectLst/>
                              <a:latin typeface="+mn-lt"/>
                            </a:rPr>
                            <a:t>Major axis length (L)</a:t>
                          </a:r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pPr algn="just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>
                              <a:effectLst/>
                              <a:latin typeface="+mn-lt"/>
                            </a:rPr>
                            <a:t>The length of the longest line that can be traced from a bean.</a:t>
                          </a:r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792500" t="-925954" r="-581000" b="-137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ct val="120000"/>
                            </a:lnSpc>
                            <a:spcBef>
                              <a:spcPts val="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2000">
                              <a:effectLst/>
                              <a:latin typeface="+mn-lt"/>
                            </a:rPr>
                            <a:t>Shape Factor 4</a:t>
                          </a:r>
                          <a:endParaRPr lang="en-IN" sz="20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2870" marR="10287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2870" marR="102870" marT="0" marB="0" anchor="ctr">
                        <a:blipFill>
                          <a:blip r:embed="rId2"/>
                          <a:stretch>
                            <a:fillRect l="-308183" t="-925954" r="-555" b="-137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283880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2" descr="See related image detai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127347"/>
            <a:ext cx="2800350" cy="154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 descr="Free Line Drawing Teddy Bear, Download Free Clip Art, Free Clip Art on ...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37" t="17851" r="16799" b="28594"/>
          <a:stretch/>
        </p:blipFill>
        <p:spPr bwMode="auto">
          <a:xfrm>
            <a:off x="14401800" y="66204"/>
            <a:ext cx="2243138" cy="1739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4388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E0EE8-3708-B826-CC6D-5CB697DE7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EF6EA-8B5A-F59C-32BD-9FF7D31AE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07" y="584360"/>
            <a:ext cx="6590694" cy="947424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54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Feature Extraction</a:t>
            </a:r>
            <a:endParaRPr lang="en-IN" sz="5400" b="1" dirty="0">
              <a:solidFill>
                <a:srgbClr val="FF0000"/>
              </a:solidFill>
            </a:endParaRPr>
          </a:p>
        </p:txBody>
      </p:sp>
      <p:pic>
        <p:nvPicPr>
          <p:cNvPr id="6" name="Picture 2" descr="See related image detail">
            <a:extLst>
              <a:ext uri="{FF2B5EF4-FFF2-40B4-BE49-F238E27FC236}">
                <a16:creationId xmlns:a16="http://schemas.microsoft.com/office/drawing/2014/main" id="{05B5C5B4-5C1C-6F1A-4847-5195D7ED1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87995"/>
            <a:ext cx="2800350" cy="154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 descr="Free Line Drawing Teddy Bear, Download Free Clip Art, Free Clip Art on ...">
            <a:extLst>
              <a:ext uri="{FF2B5EF4-FFF2-40B4-BE49-F238E27FC236}">
                <a16:creationId xmlns:a16="http://schemas.microsoft.com/office/drawing/2014/main" id="{30D1671D-25C9-1604-5A52-362282F6E0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37" t="17851" r="16799" b="28594"/>
          <a:stretch/>
        </p:blipFill>
        <p:spPr bwMode="auto">
          <a:xfrm>
            <a:off x="14478000" y="294336"/>
            <a:ext cx="2243138" cy="1739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7B6DCE-4969-59A6-A862-FA46246288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824"/>
          <a:stretch>
            <a:fillRect/>
          </a:stretch>
        </p:blipFill>
        <p:spPr>
          <a:xfrm>
            <a:off x="152400" y="2933700"/>
            <a:ext cx="17653093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992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3962400" y="192391"/>
            <a:ext cx="10668000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dirty="0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EDA - Histograms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0AE72F-AE64-B755-0D5F-CE99B9B6E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09700"/>
            <a:ext cx="8839200" cy="812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3C28D4-05F6-4C7C-0BD3-54A387E46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8698" y="1409699"/>
            <a:ext cx="8689302" cy="82296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8781E-1E7F-D751-2108-A1E86590E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987B6DFF-F14C-7F9B-C756-5F1BE154DA8A}"/>
              </a:ext>
            </a:extLst>
          </p:cNvPr>
          <p:cNvSpPr txBox="1"/>
          <p:nvPr/>
        </p:nvSpPr>
        <p:spPr>
          <a:xfrm>
            <a:off x="3962400" y="192391"/>
            <a:ext cx="10668000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dirty="0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EDA- </a:t>
            </a:r>
            <a:r>
              <a:rPr lang="en-US" sz="4800" b="1" dirty="0" err="1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BoxPlots</a:t>
            </a:r>
            <a:endParaRPr lang="en-US" sz="4800" b="1" dirty="0">
              <a:solidFill>
                <a:srgbClr val="0070C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26C73EA-CB1A-AFBB-1779-BD49E2DDC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912" y="1028700"/>
            <a:ext cx="8724088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53DA579A-A4F7-7EFC-B622-6C66E82D5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3665" y="997975"/>
            <a:ext cx="9124336" cy="445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F20DFD-7677-4D6D-1367-D4275D68E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644" y="5448300"/>
            <a:ext cx="9124337" cy="5029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D2943D-E031-9E42-C8E2-64C9290A79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4249" y="5396565"/>
            <a:ext cx="8554107" cy="513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392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59BF8-DAA0-3209-B0DF-9CC507EC0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8AA75898-289C-260A-48D7-1078C39FCF15}"/>
              </a:ext>
            </a:extLst>
          </p:cNvPr>
          <p:cNvSpPr txBox="1"/>
          <p:nvPr/>
        </p:nvSpPr>
        <p:spPr>
          <a:xfrm>
            <a:off x="3962400" y="192391"/>
            <a:ext cx="10668000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dirty="0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EDA - </a:t>
            </a:r>
            <a:r>
              <a:rPr lang="en-US" sz="4800" b="1" dirty="0" err="1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HeatMap</a:t>
            </a:r>
            <a:endParaRPr lang="en-US" sz="4800" b="1" dirty="0">
              <a:solidFill>
                <a:srgbClr val="0070C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96D290-226F-E6A4-3FD6-92E4627C26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992"/>
          <a:stretch>
            <a:fillRect/>
          </a:stretch>
        </p:blipFill>
        <p:spPr>
          <a:xfrm>
            <a:off x="1712749" y="1080533"/>
            <a:ext cx="14862501" cy="903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024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A7907-0E23-F171-FB86-437C9A633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F4CAEC42-7E50-A8F6-D624-FD6352952312}"/>
              </a:ext>
            </a:extLst>
          </p:cNvPr>
          <p:cNvSpPr txBox="1"/>
          <p:nvPr/>
        </p:nvSpPr>
        <p:spPr>
          <a:xfrm>
            <a:off x="228600" y="419100"/>
            <a:ext cx="17525999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dirty="0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Feature Engineering – PCA, Feature Selection Algorithms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0D58A3A-D5FF-2E40-9940-30762FDD6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493330"/>
              </p:ext>
            </p:extLst>
          </p:nvPr>
        </p:nvGraphicFramePr>
        <p:xfrm>
          <a:off x="9906000" y="1638299"/>
          <a:ext cx="8129922" cy="82525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81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0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62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2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5414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Rank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MRMR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ReliefF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4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Feature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MRMR score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Feature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ReliefF score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MajorAxisLength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0.9512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ShapeFactor1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0.1057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Extent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0.8748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ShapeFactor2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0.0904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Solidity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0.8334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Perimeter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0.0885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ShapeFactor1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0.8282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EquivDiameter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0.0884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AspectRation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0.8065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MinorAxisLength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0.0874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6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ShapeFactor4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0.8065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MajorAxisLength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0.0865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5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7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roundness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0.7869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Area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0.0698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5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8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ShapeFactor2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0.7532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ConvexArea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0.0685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5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9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EquivDiameter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0.7173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Compactness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0.0607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45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10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MinorAxisLength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0.7173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ShapeFactor3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0.0598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45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11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Perimeter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0.6455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AspectRation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0.0588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45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12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ShapeFactor3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0.6286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Extent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0.0544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45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13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ConvexArea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0.6286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roundness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0.0471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45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14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Compactness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0.5782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Eccentricity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0.0455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445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15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Area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0.5744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ShapeFactor4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0.0258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445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16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Eccentricity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0.5495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Solidity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0.0198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24BC076-6ACD-638F-6A09-78375C62A781}"/>
                  </a:ext>
                </a:extLst>
              </p14:cNvPr>
              <p14:cNvContentPartPr/>
              <p14:nvPr/>
            </p14:nvContentPartPr>
            <p14:xfrm>
              <a:off x="5775960" y="566892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24BC076-6ACD-638F-6A09-78375C62A78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67320" y="565992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8FD7858-30A4-0D29-8495-C0349A8CDE7D}"/>
                  </a:ext>
                </a:extLst>
              </p14:cNvPr>
              <p14:cNvContentPartPr/>
              <p14:nvPr/>
            </p14:nvContentPartPr>
            <p14:xfrm>
              <a:off x="2667000" y="2788920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8FD7858-30A4-0D29-8495-C0349A8CDE7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58360" y="2779920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6146" name="Picture 2">
            <a:extLst>
              <a:ext uri="{FF2B5EF4-FFF2-40B4-BE49-F238E27FC236}">
                <a16:creationId xmlns:a16="http://schemas.microsoft.com/office/drawing/2014/main" id="{81A3A44B-7885-91FD-6976-A71CCA73F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23987"/>
            <a:ext cx="9124949" cy="825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0990BF0-6F0A-B29C-6CAA-5A74F018B067}"/>
                  </a:ext>
                </a:extLst>
              </p14:cNvPr>
              <p14:cNvContentPartPr/>
              <p14:nvPr/>
            </p14:nvContentPartPr>
            <p14:xfrm>
              <a:off x="2664120" y="2649240"/>
              <a:ext cx="277560" cy="531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0990BF0-6F0A-B29C-6CAA-5A74F018B06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46480" y="2631240"/>
                <a:ext cx="313200" cy="56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B08E902-1DDD-F315-6BAA-006441E25FF6}"/>
                  </a:ext>
                </a:extLst>
              </p14:cNvPr>
              <p14:cNvContentPartPr/>
              <p14:nvPr/>
            </p14:nvContentPartPr>
            <p14:xfrm>
              <a:off x="2651121" y="9038636"/>
              <a:ext cx="231840" cy="231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B08E902-1DDD-F315-6BAA-006441E25FF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33481" y="9020996"/>
                <a:ext cx="267480" cy="26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202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7896D-79F9-042A-B6D1-C1ACB2018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D8B3EB3-8D5C-BB8F-8D7F-887B22028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037251"/>
            <a:ext cx="18211800" cy="8314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3DCAFB-6250-19F5-44AA-2E3BC9B601CC}"/>
              </a:ext>
            </a:extLst>
          </p:cNvPr>
          <p:cNvSpPr txBox="1"/>
          <p:nvPr/>
        </p:nvSpPr>
        <p:spPr>
          <a:xfrm>
            <a:off x="4533900" y="190500"/>
            <a:ext cx="9220200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dirty="0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Classification using Decision Tree</a:t>
            </a:r>
          </a:p>
        </p:txBody>
      </p:sp>
    </p:spTree>
    <p:extLst>
      <p:ext uri="{BB962C8B-B14F-4D97-AF65-F5344CB8AC3E}">
        <p14:creationId xmlns:p14="http://schemas.microsoft.com/office/powerpoint/2010/main" val="3799208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4533900" y="190500"/>
            <a:ext cx="9220200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dirty="0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Classification using DT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1A26B45-6032-BD1A-92C7-A54B0BC2CA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865"/>
          <a:stretch>
            <a:fillRect/>
          </a:stretch>
        </p:blipFill>
        <p:spPr bwMode="auto">
          <a:xfrm>
            <a:off x="152400" y="1409700"/>
            <a:ext cx="7924800" cy="8399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B2152478-7280-4559-50D5-BC5C3C645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1" y="1562100"/>
            <a:ext cx="9677400" cy="817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C3030-CA15-7E48-9862-1B8F39366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49CB1F40-4B51-BB50-8D56-27A1836857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896"/>
          <a:stretch>
            <a:fillRect/>
          </a:stretch>
        </p:blipFill>
        <p:spPr bwMode="auto">
          <a:xfrm>
            <a:off x="609600" y="893168"/>
            <a:ext cx="8991600" cy="723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8E4733E1-B0DF-32DA-5D6D-53DEB8F519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729"/>
          <a:stretch>
            <a:fillRect/>
          </a:stretch>
        </p:blipFill>
        <p:spPr bwMode="auto">
          <a:xfrm>
            <a:off x="10134600" y="1007468"/>
            <a:ext cx="7689875" cy="701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9D11CB-A66F-8994-DD4E-7A7341C24F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63131"/>
              </p:ext>
            </p:extLst>
          </p:nvPr>
        </p:nvGraphicFramePr>
        <p:xfrm>
          <a:off x="762000" y="8420100"/>
          <a:ext cx="8991600" cy="131709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98320">
                  <a:extLst>
                    <a:ext uri="{9D8B030D-6E8A-4147-A177-3AD203B41FA5}">
                      <a16:colId xmlns:a16="http://schemas.microsoft.com/office/drawing/2014/main" val="3399100401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3698611706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597323320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1358706128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798913004"/>
                    </a:ext>
                  </a:extLst>
                </a:gridCol>
              </a:tblGrid>
              <a:tr h="4507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Accuracy (%)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Precision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Recall 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F1-Score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AUC</a:t>
                      </a:r>
                      <a:endParaRPr lang="en-IN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2251831"/>
                  </a:ext>
                </a:extLst>
              </a:tr>
              <a:tr h="61605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88.481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0.889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0.885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0.885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0.978</a:t>
                      </a:r>
                      <a:endParaRPr lang="en-IN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44983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A8F89FD-F266-D847-46E9-59FD3E62F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052231"/>
              </p:ext>
            </p:extLst>
          </p:nvPr>
        </p:nvGraphicFramePr>
        <p:xfrm>
          <a:off x="10134600" y="8332085"/>
          <a:ext cx="8001000" cy="131709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33991004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698611706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59732332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358706128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251239615"/>
                    </a:ext>
                  </a:extLst>
                </a:gridCol>
              </a:tblGrid>
              <a:tr h="74306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Accuracy (%)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Precision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Recall 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F1-Score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AUC</a:t>
                      </a:r>
                      <a:endParaRPr lang="en-IN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2251831"/>
                  </a:ext>
                </a:extLst>
              </a:tr>
              <a:tr h="57402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85.01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0.852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0.850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0.850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0.973</a:t>
                      </a:r>
                      <a:endParaRPr lang="en-IN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4498340"/>
                  </a:ext>
                </a:extLst>
              </a:tr>
            </a:tbl>
          </a:graphicData>
        </a:graphic>
      </p:graphicFrame>
      <p:sp>
        <p:nvSpPr>
          <p:cNvPr id="4" name="TextBox 6">
            <a:extLst>
              <a:ext uri="{FF2B5EF4-FFF2-40B4-BE49-F238E27FC236}">
                <a16:creationId xmlns:a16="http://schemas.microsoft.com/office/drawing/2014/main" id="{F78152A3-29BB-D920-EE5B-819E4B1E3A80}"/>
              </a:ext>
            </a:extLst>
          </p:cNvPr>
          <p:cNvSpPr txBox="1"/>
          <p:nvPr/>
        </p:nvSpPr>
        <p:spPr>
          <a:xfrm>
            <a:off x="4533900" y="148244"/>
            <a:ext cx="9220200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dirty="0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Classification using DT</a:t>
            </a:r>
          </a:p>
        </p:txBody>
      </p:sp>
    </p:spTree>
    <p:extLst>
      <p:ext uri="{BB962C8B-B14F-4D97-AF65-F5344CB8AC3E}">
        <p14:creationId xmlns:p14="http://schemas.microsoft.com/office/powerpoint/2010/main" val="4210943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CC49D-36A4-7CF5-F751-21CF59F86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>
            <a:extLst>
              <a:ext uri="{FF2B5EF4-FFF2-40B4-BE49-F238E27FC236}">
                <a16:creationId xmlns:a16="http://schemas.microsoft.com/office/drawing/2014/main" id="{76A4E959-1B35-8121-A129-BD98D43A2210}"/>
              </a:ext>
            </a:extLst>
          </p:cNvPr>
          <p:cNvSpPr txBox="1"/>
          <p:nvPr/>
        </p:nvSpPr>
        <p:spPr>
          <a:xfrm>
            <a:off x="-533400" y="212285"/>
            <a:ext cx="9220200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dirty="0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Classification using KNN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D516F57-5C7F-D840-E6E4-8C53C4708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10" y="1257300"/>
            <a:ext cx="9220200" cy="803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C78D5CA-84EF-DAF1-A78E-EA1F440B8F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807000"/>
              </p:ext>
            </p:extLst>
          </p:nvPr>
        </p:nvGraphicFramePr>
        <p:xfrm>
          <a:off x="9812594" y="4161991"/>
          <a:ext cx="8458200" cy="126746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33991004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36986117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59732332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1358706128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798913004"/>
                    </a:ext>
                  </a:extLst>
                </a:gridCol>
              </a:tblGrid>
              <a:tr h="64456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Accuracy (%)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Precision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Recall 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F1-Score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AUC</a:t>
                      </a:r>
                      <a:endParaRPr lang="en-IN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2251831"/>
                  </a:ext>
                </a:extLst>
              </a:tr>
              <a:tr h="56642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92.30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0.923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0.923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0.923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0.988</a:t>
                      </a:r>
                      <a:endParaRPr lang="en-IN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44983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7B75F5-1C08-1FFF-C2D2-AE96A24B34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477871"/>
              </p:ext>
            </p:extLst>
          </p:nvPr>
        </p:nvGraphicFramePr>
        <p:xfrm>
          <a:off x="10041194" y="8724900"/>
          <a:ext cx="8001000" cy="131709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33991004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698611706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59732332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358706128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251239615"/>
                    </a:ext>
                  </a:extLst>
                </a:gridCol>
              </a:tblGrid>
              <a:tr h="74306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Accuracy (%)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Precision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Recall 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F1-Score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AUC</a:t>
                      </a:r>
                      <a:endParaRPr lang="en-IN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2251831"/>
                  </a:ext>
                </a:extLst>
              </a:tr>
              <a:tr h="57402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89.53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0.895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0.895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0.894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0.982</a:t>
                      </a:r>
                      <a:endParaRPr lang="en-IN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4498340"/>
                  </a:ext>
                </a:extLst>
              </a:tr>
            </a:tbl>
          </a:graphicData>
        </a:graphic>
      </p:graphicFrame>
      <p:pic>
        <p:nvPicPr>
          <p:cNvPr id="4100" name="Picture 4">
            <a:extLst>
              <a:ext uri="{FF2B5EF4-FFF2-40B4-BE49-F238E27FC236}">
                <a16:creationId xmlns:a16="http://schemas.microsoft.com/office/drawing/2014/main" id="{4C10B657-D53A-1E69-A844-922E6918BE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261"/>
          <a:stretch>
            <a:fillRect/>
          </a:stretch>
        </p:blipFill>
        <p:spPr bwMode="auto">
          <a:xfrm>
            <a:off x="10398842" y="0"/>
            <a:ext cx="7089058" cy="4161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42D471A5-022D-7D07-A7A4-FD3AF460D7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165"/>
          <a:stretch>
            <a:fillRect/>
          </a:stretch>
        </p:blipFill>
        <p:spPr bwMode="auto">
          <a:xfrm>
            <a:off x="10246442" y="5606845"/>
            <a:ext cx="7241458" cy="3118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3687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4FBCC-9FE3-B643-690B-E5180E3D5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9D538D5-7821-7700-D8E1-8F03F34F8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017751"/>
              </p:ext>
            </p:extLst>
          </p:nvPr>
        </p:nvGraphicFramePr>
        <p:xfrm>
          <a:off x="762000" y="8420100"/>
          <a:ext cx="8991600" cy="131709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98320">
                  <a:extLst>
                    <a:ext uri="{9D8B030D-6E8A-4147-A177-3AD203B41FA5}">
                      <a16:colId xmlns:a16="http://schemas.microsoft.com/office/drawing/2014/main" val="3399100401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3698611706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597323320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1358706128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798913004"/>
                    </a:ext>
                  </a:extLst>
                </a:gridCol>
              </a:tblGrid>
              <a:tr h="4507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Accuracy (%)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Precision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Recall 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F1-Score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AUC</a:t>
                      </a:r>
                      <a:endParaRPr lang="en-IN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2251831"/>
                  </a:ext>
                </a:extLst>
              </a:tr>
              <a:tr h="61605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92.33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0.923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0.922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0.923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0.995</a:t>
                      </a:r>
                      <a:endParaRPr lang="en-IN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44983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81B8501-4AB0-0E6C-159C-DDBEEE60C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036823"/>
              </p:ext>
            </p:extLst>
          </p:nvPr>
        </p:nvGraphicFramePr>
        <p:xfrm>
          <a:off x="10134600" y="8332085"/>
          <a:ext cx="8001000" cy="131709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33991004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698611706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59732332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358706128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251239615"/>
                    </a:ext>
                  </a:extLst>
                </a:gridCol>
              </a:tblGrid>
              <a:tr h="74306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Accuracy (%)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Precision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Recall 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F1-Score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AUC</a:t>
                      </a:r>
                      <a:endParaRPr lang="en-IN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2251831"/>
                  </a:ext>
                </a:extLst>
              </a:tr>
              <a:tr h="57402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92.54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0.926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0.925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0.926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0.994</a:t>
                      </a:r>
                      <a:endParaRPr lang="en-IN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4498340"/>
                  </a:ext>
                </a:extLst>
              </a:tr>
            </a:tbl>
          </a:graphicData>
        </a:graphic>
      </p:graphicFrame>
      <p:sp>
        <p:nvSpPr>
          <p:cNvPr id="4" name="TextBox 6">
            <a:extLst>
              <a:ext uri="{FF2B5EF4-FFF2-40B4-BE49-F238E27FC236}">
                <a16:creationId xmlns:a16="http://schemas.microsoft.com/office/drawing/2014/main" id="{7903A1EA-D720-21DD-EC36-0F530AD79136}"/>
              </a:ext>
            </a:extLst>
          </p:cNvPr>
          <p:cNvSpPr txBox="1"/>
          <p:nvPr/>
        </p:nvSpPr>
        <p:spPr>
          <a:xfrm>
            <a:off x="4533900" y="148244"/>
            <a:ext cx="9220200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dirty="0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Classification using SVM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DA23374-7F6F-D73E-655C-4185A10C99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072"/>
          <a:stretch>
            <a:fillRect/>
          </a:stretch>
        </p:blipFill>
        <p:spPr bwMode="auto">
          <a:xfrm>
            <a:off x="781050" y="1288114"/>
            <a:ext cx="8743950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6717C2-49B3-2AB9-0009-9B337F11B0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765"/>
          <a:stretch>
            <a:fillRect/>
          </a:stretch>
        </p:blipFill>
        <p:spPr>
          <a:xfrm>
            <a:off x="10134600" y="1485900"/>
            <a:ext cx="7772400" cy="667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515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C35F6-8827-F466-1141-467A145F1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A2747C-73FE-1639-D624-F176B5AE96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890031"/>
              </p:ext>
            </p:extLst>
          </p:nvPr>
        </p:nvGraphicFramePr>
        <p:xfrm>
          <a:off x="762000" y="8420100"/>
          <a:ext cx="8991600" cy="131709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98320">
                  <a:extLst>
                    <a:ext uri="{9D8B030D-6E8A-4147-A177-3AD203B41FA5}">
                      <a16:colId xmlns:a16="http://schemas.microsoft.com/office/drawing/2014/main" val="3399100401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3698611706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597323320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1358706128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798913004"/>
                    </a:ext>
                  </a:extLst>
                </a:gridCol>
              </a:tblGrid>
              <a:tr h="4507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Accuracy (%)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Precision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Recall 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F1-Score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AUC</a:t>
                      </a:r>
                      <a:endParaRPr lang="en-IN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2251831"/>
                  </a:ext>
                </a:extLst>
              </a:tr>
              <a:tr h="61605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89.06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0.890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0.891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0.890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0.990</a:t>
                      </a:r>
                      <a:endParaRPr lang="en-IN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44983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4F969AF-71B7-B3B3-AF9C-6D72C24F20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756339"/>
              </p:ext>
            </p:extLst>
          </p:nvPr>
        </p:nvGraphicFramePr>
        <p:xfrm>
          <a:off x="10134600" y="8332085"/>
          <a:ext cx="8001000" cy="131709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33991004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698611706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59732332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358706128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251239615"/>
                    </a:ext>
                  </a:extLst>
                </a:gridCol>
              </a:tblGrid>
              <a:tr h="74306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Accuracy (%)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Precision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Recall 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F1-Score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AUC</a:t>
                      </a:r>
                      <a:endParaRPr lang="en-IN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2251831"/>
                  </a:ext>
                </a:extLst>
              </a:tr>
              <a:tr h="57402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90.04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0.901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0.900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0.899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0.9912</a:t>
                      </a:r>
                      <a:endParaRPr lang="en-IN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4498340"/>
                  </a:ext>
                </a:extLst>
              </a:tr>
            </a:tbl>
          </a:graphicData>
        </a:graphic>
      </p:graphicFrame>
      <p:sp>
        <p:nvSpPr>
          <p:cNvPr id="4" name="TextBox 6">
            <a:extLst>
              <a:ext uri="{FF2B5EF4-FFF2-40B4-BE49-F238E27FC236}">
                <a16:creationId xmlns:a16="http://schemas.microsoft.com/office/drawing/2014/main" id="{2A3B4379-A1CC-06E5-07DF-E14D10969466}"/>
              </a:ext>
            </a:extLst>
          </p:cNvPr>
          <p:cNvSpPr txBox="1"/>
          <p:nvPr/>
        </p:nvSpPr>
        <p:spPr>
          <a:xfrm>
            <a:off x="4533900" y="148244"/>
            <a:ext cx="9220200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dirty="0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Classification using SVM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5D227F-4E74-0036-64D8-F18AB7FCAF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931"/>
          <a:stretch>
            <a:fillRect/>
          </a:stretch>
        </p:blipFill>
        <p:spPr>
          <a:xfrm>
            <a:off x="914400" y="1252709"/>
            <a:ext cx="8686800" cy="6677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71B530-1EC1-78E7-D612-E31B460062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381"/>
          <a:stretch>
            <a:fillRect/>
          </a:stretch>
        </p:blipFill>
        <p:spPr>
          <a:xfrm>
            <a:off x="10134600" y="1278282"/>
            <a:ext cx="7924800" cy="667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953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D3852-049B-660C-AF22-88AE44E11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D92625-EF32-B1D8-9354-671BB7052D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205664"/>
              </p:ext>
            </p:extLst>
          </p:nvPr>
        </p:nvGraphicFramePr>
        <p:xfrm>
          <a:off x="762000" y="8420100"/>
          <a:ext cx="8991600" cy="131709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98320">
                  <a:extLst>
                    <a:ext uri="{9D8B030D-6E8A-4147-A177-3AD203B41FA5}">
                      <a16:colId xmlns:a16="http://schemas.microsoft.com/office/drawing/2014/main" val="3399100401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3698611706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597323320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1358706128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798913004"/>
                    </a:ext>
                  </a:extLst>
                </a:gridCol>
              </a:tblGrid>
              <a:tr h="4507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Accuracy (%)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Precision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Recall 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F1-Score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AUC</a:t>
                      </a:r>
                      <a:endParaRPr lang="en-IN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2251831"/>
                  </a:ext>
                </a:extLst>
              </a:tr>
              <a:tr h="61605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91.86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0.919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0.918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0.918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0.9913</a:t>
                      </a:r>
                      <a:endParaRPr lang="en-IN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44983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13A4BB-47C7-99A6-F26B-0702E4638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965557"/>
              </p:ext>
            </p:extLst>
          </p:nvPr>
        </p:nvGraphicFramePr>
        <p:xfrm>
          <a:off x="10134600" y="8332085"/>
          <a:ext cx="8001000" cy="131709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33991004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698611706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59732332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358706128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251239615"/>
                    </a:ext>
                  </a:extLst>
                </a:gridCol>
              </a:tblGrid>
              <a:tr h="74306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Accuracy (%)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Precision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Recall 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F1-Score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AUC</a:t>
                      </a:r>
                      <a:endParaRPr lang="en-IN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2251831"/>
                  </a:ext>
                </a:extLst>
              </a:tr>
              <a:tr h="57402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92.71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0.9274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0.9271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0.9271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0.9950</a:t>
                      </a:r>
                      <a:endParaRPr lang="en-IN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4498340"/>
                  </a:ext>
                </a:extLst>
              </a:tr>
            </a:tbl>
          </a:graphicData>
        </a:graphic>
      </p:graphicFrame>
      <p:sp>
        <p:nvSpPr>
          <p:cNvPr id="4" name="TextBox 6">
            <a:extLst>
              <a:ext uri="{FF2B5EF4-FFF2-40B4-BE49-F238E27FC236}">
                <a16:creationId xmlns:a16="http://schemas.microsoft.com/office/drawing/2014/main" id="{07E9413F-BAE4-C7C3-28D1-65433F89D847}"/>
              </a:ext>
            </a:extLst>
          </p:cNvPr>
          <p:cNvSpPr txBox="1"/>
          <p:nvPr/>
        </p:nvSpPr>
        <p:spPr>
          <a:xfrm>
            <a:off x="152400" y="286763"/>
            <a:ext cx="10706100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dirty="0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Classification using Ensemble Methods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8A7F55-AB53-544D-F6F8-06A391F6E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11061"/>
            <a:ext cx="6705600" cy="38370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A967B4-E133-F619-9328-7FD0B26A65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228"/>
          <a:stretch>
            <a:fillRect/>
          </a:stretch>
        </p:blipFill>
        <p:spPr>
          <a:xfrm>
            <a:off x="637868" y="1485900"/>
            <a:ext cx="9115731" cy="6846185"/>
          </a:xfrm>
          <a:prstGeom prst="rect">
            <a:avLst/>
          </a:prstGeom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DC72E3A5-0776-9E24-984C-BAC81C5D7C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690"/>
          <a:stretch>
            <a:fillRect/>
          </a:stretch>
        </p:blipFill>
        <p:spPr bwMode="auto">
          <a:xfrm>
            <a:off x="10134600" y="3928490"/>
            <a:ext cx="7924800" cy="4323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42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3951601" y="9534525"/>
            <a:ext cx="4114800" cy="547688"/>
          </a:xfrm>
          <a:custGeom>
            <a:avLst/>
            <a:gdLst/>
            <a:ahLst/>
            <a:cxnLst/>
            <a:rect l="l" t="t" r="r" b="b"/>
            <a:pathLst>
              <a:path w="5486400" h="730250">
                <a:moveTo>
                  <a:pt x="0" y="0"/>
                </a:moveTo>
                <a:lnTo>
                  <a:pt x="5486400" y="0"/>
                </a:lnTo>
                <a:lnTo>
                  <a:pt x="5486400" y="730250"/>
                </a:lnTo>
                <a:lnTo>
                  <a:pt x="0" y="730250"/>
                </a:lnTo>
                <a:close/>
              </a:path>
            </a:pathLst>
          </a:custGeom>
          <a:blipFill>
            <a:blip r:embed="rId2">
              <a:alphaModFix amt="0"/>
            </a:blip>
            <a:stretch>
              <a:fillRect t="-96391" b="-9639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5008297" y="211356"/>
            <a:ext cx="7488503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dirty="0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Performance Comparison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0A806E-CC3D-174E-3CF1-A8AF36C7F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094828"/>
              </p:ext>
            </p:extLst>
          </p:nvPr>
        </p:nvGraphicFramePr>
        <p:xfrm>
          <a:off x="309717" y="1816848"/>
          <a:ext cx="9525000" cy="458521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87500">
                  <a:extLst>
                    <a:ext uri="{9D8B030D-6E8A-4147-A177-3AD203B41FA5}">
                      <a16:colId xmlns:a16="http://schemas.microsoft.com/office/drawing/2014/main" val="2626358783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3399100401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3698611706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597323320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1358706128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798913004"/>
                    </a:ext>
                  </a:extLst>
                </a:gridCol>
              </a:tblGrid>
              <a:tr h="64321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Model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Accuracy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Precision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Recall 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F1-Score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AUC</a:t>
                      </a:r>
                      <a:endParaRPr lang="en-IN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2251831"/>
                  </a:ext>
                </a:extLst>
              </a:tr>
              <a:tr h="7218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DT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0.884808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0.888875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0.884808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0.884758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0.978576</a:t>
                      </a:r>
                    </a:p>
                  </a:txBody>
                  <a:tcPr marL="55195" marR="55195" marT="27597" marB="27597" anchor="ctr"/>
                </a:tc>
                <a:extLst>
                  <a:ext uri="{0D108BD9-81ED-4DB2-BD59-A6C34878D82A}">
                    <a16:rowId xmlns:a16="http://schemas.microsoft.com/office/drawing/2014/main" val="2004498340"/>
                  </a:ext>
                </a:extLst>
              </a:tr>
              <a:tr h="5296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0.923009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0.923323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0.923009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0.923038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0.988480</a:t>
                      </a:r>
                    </a:p>
                  </a:txBody>
                  <a:tcPr marL="55195" marR="55195" marT="27597" marB="27597" anchor="ctr"/>
                </a:tc>
                <a:extLst>
                  <a:ext uri="{0D108BD9-81ED-4DB2-BD59-A6C34878D82A}">
                    <a16:rowId xmlns:a16="http://schemas.microsoft.com/office/drawing/2014/main" val="1916572557"/>
                  </a:ext>
                </a:extLst>
              </a:tr>
              <a:tr h="7218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 Linear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0.923303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0.923447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0.923303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0.923304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0.995244</a:t>
                      </a:r>
                    </a:p>
                  </a:txBody>
                  <a:tcPr marL="55195" marR="55195" marT="27597" marB="27597" anchor="ctr"/>
                </a:tc>
                <a:extLst>
                  <a:ext uri="{0D108BD9-81ED-4DB2-BD59-A6C34878D82A}">
                    <a16:rowId xmlns:a16="http://schemas.microsoft.com/office/drawing/2014/main" val="4084147405"/>
                  </a:ext>
                </a:extLst>
              </a:tr>
              <a:tr h="5296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 RBF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0.925360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0.925882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0.925360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0.925464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0.994968</a:t>
                      </a:r>
                    </a:p>
                  </a:txBody>
                  <a:tcPr marL="55195" marR="55195" marT="27597" marB="27597" anchor="ctr"/>
                </a:tc>
                <a:extLst>
                  <a:ext uri="{0D108BD9-81ED-4DB2-BD59-A6C34878D82A}">
                    <a16:rowId xmlns:a16="http://schemas.microsoft.com/office/drawing/2014/main" val="1325656244"/>
                  </a:ext>
                </a:extLst>
              </a:tr>
              <a:tr h="7218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0.918601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0.918718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0.918601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0.918592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0.991329</a:t>
                      </a:r>
                    </a:p>
                  </a:txBody>
                  <a:tcPr marL="55195" marR="55195" marT="27597" marB="27597" anchor="ctr"/>
                </a:tc>
                <a:extLst>
                  <a:ext uri="{0D108BD9-81ED-4DB2-BD59-A6C34878D82A}">
                    <a16:rowId xmlns:a16="http://schemas.microsoft.com/office/drawing/2014/main" val="2632810956"/>
                  </a:ext>
                </a:extLst>
              </a:tr>
              <a:tr h="5296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0.927123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0.927410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0.927123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0.927192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0.995022</a:t>
                      </a:r>
                    </a:p>
                  </a:txBody>
                  <a:tcPr marL="55195" marR="55195" marT="27597" marB="27597" anchor="ctr"/>
                </a:tc>
                <a:extLst>
                  <a:ext uri="{0D108BD9-81ED-4DB2-BD59-A6C34878D82A}">
                    <a16:rowId xmlns:a16="http://schemas.microsoft.com/office/drawing/2014/main" val="390113513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4268584-7276-5F8D-9375-4F2120720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357487"/>
              </p:ext>
            </p:extLst>
          </p:nvPr>
        </p:nvGraphicFramePr>
        <p:xfrm>
          <a:off x="10058400" y="1816849"/>
          <a:ext cx="8229600" cy="456168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33991004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43624401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69861170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59732332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358706128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251239615"/>
                    </a:ext>
                  </a:extLst>
                </a:gridCol>
              </a:tblGrid>
              <a:tr h="69873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Model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Accuracy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Precision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Recall 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Weighted F1-Score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AUC</a:t>
                      </a:r>
                      <a:endParaRPr lang="en-IN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2251831"/>
                  </a:ext>
                </a:extLst>
              </a:tr>
              <a:tr h="5397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DT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0.850132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0.852259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0.850132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0.850848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0.973365</a:t>
                      </a:r>
                    </a:p>
                  </a:txBody>
                  <a:tcPr marL="55195" marR="55195" marT="27597" marB="27597" anchor="ctr"/>
                </a:tc>
                <a:extLst>
                  <a:ext uri="{0D108BD9-81ED-4DB2-BD59-A6C34878D82A}">
                    <a16:rowId xmlns:a16="http://schemas.microsoft.com/office/drawing/2014/main" val="2004498340"/>
                  </a:ext>
                </a:extLst>
              </a:tr>
              <a:tr h="5397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0.895386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0.895360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0.895386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0.894979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0.982626</a:t>
                      </a:r>
                    </a:p>
                  </a:txBody>
                  <a:tcPr marL="55195" marR="55195" marT="27597" marB="27597" anchor="ctr"/>
                </a:tc>
                <a:extLst>
                  <a:ext uri="{0D108BD9-81ED-4DB2-BD59-A6C34878D82A}">
                    <a16:rowId xmlns:a16="http://schemas.microsoft.com/office/drawing/2014/main" val="3685682135"/>
                  </a:ext>
                </a:extLst>
              </a:tr>
              <a:tr h="7397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 Linear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0.890685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0.890469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0.890685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0.890084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0.990942</a:t>
                      </a:r>
                    </a:p>
                  </a:txBody>
                  <a:tcPr marL="55195" marR="55195" marT="27597" marB="27597" anchor="ctr"/>
                </a:tc>
                <a:extLst>
                  <a:ext uri="{0D108BD9-81ED-4DB2-BD59-A6C34878D82A}">
                    <a16:rowId xmlns:a16="http://schemas.microsoft.com/office/drawing/2014/main" val="3601021447"/>
                  </a:ext>
                </a:extLst>
              </a:tr>
              <a:tr h="7397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 RBF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0.900382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0.901044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0.900382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0.899753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0.991248</a:t>
                      </a:r>
                    </a:p>
                  </a:txBody>
                  <a:tcPr marL="55195" marR="55195" marT="27597" marB="27597" anchor="ctr"/>
                </a:tc>
                <a:extLst>
                  <a:ext uri="{0D108BD9-81ED-4DB2-BD59-A6C34878D82A}">
                    <a16:rowId xmlns:a16="http://schemas.microsoft.com/office/drawing/2014/main" val="389487537"/>
                  </a:ext>
                </a:extLst>
              </a:tr>
              <a:tr h="7397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0.897150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0.896822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0.897150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0.896731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0.988445</a:t>
                      </a:r>
                    </a:p>
                  </a:txBody>
                  <a:tcPr marL="55195" marR="55195" marT="27597" marB="27597" anchor="ctr"/>
                </a:tc>
                <a:extLst>
                  <a:ext uri="{0D108BD9-81ED-4DB2-BD59-A6C34878D82A}">
                    <a16:rowId xmlns:a16="http://schemas.microsoft.com/office/drawing/2014/main" val="2415381082"/>
                  </a:ext>
                </a:extLst>
              </a:tr>
              <a:tr h="3958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0.887158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0.886938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0.887158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0.886922</a:t>
                      </a:r>
                    </a:p>
                  </a:txBody>
                  <a:tcPr marL="55195" marR="55195" marT="27597" marB="2759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0.989264</a:t>
                      </a:r>
                    </a:p>
                  </a:txBody>
                  <a:tcPr marL="55195" marR="55195" marT="27597" marB="27597" anchor="ctr"/>
                </a:tc>
                <a:extLst>
                  <a:ext uri="{0D108BD9-81ED-4DB2-BD59-A6C34878D82A}">
                    <a16:rowId xmlns:a16="http://schemas.microsoft.com/office/drawing/2014/main" val="3448162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295489B-2137-CEDA-1A4B-10D5B197EA16}"/>
              </a:ext>
            </a:extLst>
          </p:cNvPr>
          <p:cNvSpPr txBox="1"/>
          <p:nvPr/>
        </p:nvSpPr>
        <p:spPr>
          <a:xfrm>
            <a:off x="3642378" y="1232073"/>
            <a:ext cx="2731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Without PCA</a:t>
            </a:r>
            <a:endParaRPr lang="en-IN" sz="3200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F90373-7420-D5FF-B3AB-041A3D6582C3}"/>
              </a:ext>
            </a:extLst>
          </p:cNvPr>
          <p:cNvSpPr txBox="1"/>
          <p:nvPr/>
        </p:nvSpPr>
        <p:spPr>
          <a:xfrm>
            <a:off x="13258211" y="1154471"/>
            <a:ext cx="20585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With PCA</a:t>
            </a:r>
            <a:endParaRPr lang="en-IN" sz="3200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3AF7F8-71BD-A538-0D44-995ACC458049}"/>
              </a:ext>
            </a:extLst>
          </p:cNvPr>
          <p:cNvSpPr txBox="1"/>
          <p:nvPr/>
        </p:nvSpPr>
        <p:spPr>
          <a:xfrm>
            <a:off x="309717" y="6515100"/>
            <a:ext cx="13711083" cy="3408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Observations: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Achieved Significant Feature Reduction (75%) with Moderate Accuracy Loss (~2-3%)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 Original Feature Space Provides Superior Classification Performance (</a:t>
            </a:r>
            <a:r>
              <a:rPr lang="en-US" sz="2800" dirty="0" err="1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XGBoost</a:t>
            </a:r>
            <a:r>
              <a:rPr lang="en-US" sz="2800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 (92.71%))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 PCA Offers a Favorable Accuracy–Complexity Tradeoff (SVM-RBF - 90.04%)</a:t>
            </a:r>
            <a:endParaRPr lang="en-IN" sz="2800" dirty="0">
              <a:latin typeface="Times New Roman" panose="02020603050405020304" pitchFamily="18" charset="0"/>
              <a:ea typeface="ADLaM Display" panose="02010000000000000000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506513"/>
            <a:ext cx="8319539" cy="860060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1731" y="1506514"/>
            <a:ext cx="9218952" cy="85443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BA4617-4032-D747-A605-AE93C72B1AAF}"/>
              </a:ext>
            </a:extLst>
          </p:cNvPr>
          <p:cNvSpPr txBox="1"/>
          <p:nvPr/>
        </p:nvSpPr>
        <p:spPr>
          <a:xfrm>
            <a:off x="0" y="157397"/>
            <a:ext cx="75645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600" dirty="0">
                <a:solidFill>
                  <a:schemeClr val="accent1">
                    <a:lumMod val="75000"/>
                  </a:schemeClr>
                </a:solidFill>
              </a:rPr>
              <a:t>Clustering Algorithms</a:t>
            </a:r>
          </a:p>
        </p:txBody>
      </p:sp>
    </p:spTree>
    <p:extLst>
      <p:ext uri="{BB962C8B-B14F-4D97-AF65-F5344CB8AC3E}">
        <p14:creationId xmlns:p14="http://schemas.microsoft.com/office/powerpoint/2010/main" val="27951645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265393"/>
            <a:ext cx="8701790" cy="824084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6529" y="1281370"/>
            <a:ext cx="9039071" cy="82408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09BCD5-94B0-0CED-4AB1-32EB07F2A837}"/>
              </a:ext>
            </a:extLst>
          </p:cNvPr>
          <p:cNvSpPr txBox="1"/>
          <p:nvPr/>
        </p:nvSpPr>
        <p:spPr>
          <a:xfrm>
            <a:off x="0" y="157397"/>
            <a:ext cx="851239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lang="en-IN" sz="6600" dirty="0">
                <a:solidFill>
                  <a:schemeClr val="accent1">
                    <a:lumMod val="75000"/>
                  </a:schemeClr>
                </a:solidFill>
              </a:rPr>
              <a:t>CA and Elbow Method:</a:t>
            </a:r>
          </a:p>
        </p:txBody>
      </p:sp>
    </p:spTree>
    <p:extLst>
      <p:ext uri="{BB962C8B-B14F-4D97-AF65-F5344CB8AC3E}">
        <p14:creationId xmlns:p14="http://schemas.microsoft.com/office/powerpoint/2010/main" val="18535394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84025"/>
            <a:ext cx="8971613" cy="846893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0" y="1727132"/>
            <a:ext cx="8453099" cy="84319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0CB5EE-FBCD-867D-8E34-FCD409BB7E8D}"/>
              </a:ext>
            </a:extLst>
          </p:cNvPr>
          <p:cNvSpPr txBox="1"/>
          <p:nvPr/>
        </p:nvSpPr>
        <p:spPr>
          <a:xfrm>
            <a:off x="0" y="157397"/>
            <a:ext cx="713137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600" dirty="0">
                <a:solidFill>
                  <a:schemeClr val="accent1">
                    <a:lumMod val="75000"/>
                  </a:schemeClr>
                </a:solidFill>
              </a:rPr>
              <a:t>Clustering Methods:</a:t>
            </a:r>
          </a:p>
        </p:txBody>
      </p:sp>
    </p:spTree>
    <p:extLst>
      <p:ext uri="{BB962C8B-B14F-4D97-AF65-F5344CB8AC3E}">
        <p14:creationId xmlns:p14="http://schemas.microsoft.com/office/powerpoint/2010/main" val="39688272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738" y="1658328"/>
            <a:ext cx="8994096" cy="744819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3724" y="1658328"/>
            <a:ext cx="8491929" cy="7558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2D4F9D-58CD-4F47-39B3-A8D23772DF2C}"/>
              </a:ext>
            </a:extLst>
          </p:cNvPr>
          <p:cNvSpPr txBox="1"/>
          <p:nvPr/>
        </p:nvSpPr>
        <p:spPr>
          <a:xfrm>
            <a:off x="0" y="157397"/>
            <a:ext cx="713137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600" dirty="0">
                <a:solidFill>
                  <a:schemeClr val="accent1">
                    <a:lumMod val="75000"/>
                  </a:schemeClr>
                </a:solidFill>
              </a:rPr>
              <a:t>Clustering Methods:</a:t>
            </a:r>
          </a:p>
        </p:txBody>
      </p:sp>
    </p:spTree>
    <p:extLst>
      <p:ext uri="{BB962C8B-B14F-4D97-AF65-F5344CB8AC3E}">
        <p14:creationId xmlns:p14="http://schemas.microsoft.com/office/powerpoint/2010/main" val="34814108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776" y="1409700"/>
            <a:ext cx="10849623" cy="88773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8FFE70-F165-4A93-138E-F65F64ABE35F}"/>
              </a:ext>
            </a:extLst>
          </p:cNvPr>
          <p:cNvSpPr txBox="1"/>
          <p:nvPr/>
        </p:nvSpPr>
        <p:spPr>
          <a:xfrm>
            <a:off x="0" y="157397"/>
            <a:ext cx="679955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600" dirty="0">
                <a:solidFill>
                  <a:schemeClr val="accent1">
                    <a:lumMod val="75000"/>
                  </a:schemeClr>
                </a:solidFill>
              </a:rPr>
              <a:t>Clustering Method:</a:t>
            </a:r>
          </a:p>
        </p:txBody>
      </p:sp>
    </p:spTree>
    <p:extLst>
      <p:ext uri="{BB962C8B-B14F-4D97-AF65-F5344CB8AC3E}">
        <p14:creationId xmlns:p14="http://schemas.microsoft.com/office/powerpoint/2010/main" val="39635281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744200" cy="1143000"/>
          </a:xfrm>
        </p:spPr>
        <p:txBody>
          <a:bodyPr>
            <a:noAutofit/>
          </a:bodyPr>
          <a:lstStyle/>
          <a:p>
            <a:r>
              <a:rPr sz="6600" dirty="0">
                <a:solidFill>
                  <a:schemeClr val="accent1"/>
                </a:solidFill>
              </a:rPr>
              <a:t>Clustering Evaluation Metrics</a:t>
            </a:r>
            <a:r>
              <a:rPr lang="en-US" sz="6600" dirty="0">
                <a:solidFill>
                  <a:schemeClr val="accent1"/>
                </a:solidFill>
              </a:rPr>
              <a:t>:</a:t>
            </a:r>
            <a:endParaRPr sz="66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dirty="0"/>
              <a:t>Silhouette Score</a:t>
            </a:r>
          </a:p>
          <a:p>
            <a:pPr lvl="1"/>
            <a:r>
              <a:rPr sz="3200" dirty="0"/>
              <a:t>Range: -1 to +1</a:t>
            </a:r>
          </a:p>
          <a:p>
            <a:pPr lvl="1"/>
            <a:r>
              <a:rPr sz="3200" dirty="0"/>
              <a:t>Higher is better</a:t>
            </a:r>
          </a:p>
          <a:p>
            <a:pPr lvl="1"/>
            <a:r>
              <a:rPr sz="3200" dirty="0"/>
              <a:t>Measures cluster cohesion and separation</a:t>
            </a:r>
          </a:p>
          <a:p>
            <a:r>
              <a:rPr dirty="0"/>
              <a:t>Calinski–</a:t>
            </a:r>
            <a:r>
              <a:rPr lang="en-US" dirty="0"/>
              <a:t> </a:t>
            </a:r>
            <a:r>
              <a:rPr dirty="0"/>
              <a:t>Harabasz Index</a:t>
            </a:r>
          </a:p>
          <a:p>
            <a:pPr lvl="1"/>
            <a:r>
              <a:rPr sz="3200" dirty="0"/>
              <a:t>Range: 0 to ∞</a:t>
            </a:r>
          </a:p>
          <a:p>
            <a:pPr lvl="1"/>
            <a:r>
              <a:rPr sz="3200" dirty="0"/>
              <a:t>Higher is better</a:t>
            </a:r>
          </a:p>
          <a:p>
            <a:pPr lvl="1"/>
            <a:r>
              <a:rPr sz="3200" dirty="0"/>
              <a:t>Ratio of between-cluster to within-cluster variance</a:t>
            </a:r>
          </a:p>
          <a:p>
            <a:r>
              <a:rPr dirty="0"/>
              <a:t>Davies–Bouldin Index</a:t>
            </a:r>
          </a:p>
          <a:p>
            <a:pPr lvl="1"/>
            <a:r>
              <a:rPr sz="3200" dirty="0"/>
              <a:t>Range: 0 to ∞</a:t>
            </a:r>
          </a:p>
          <a:p>
            <a:pPr lvl="1"/>
            <a:r>
              <a:rPr sz="3200" dirty="0"/>
              <a:t>Lower is better</a:t>
            </a:r>
          </a:p>
          <a:p>
            <a:pPr lvl="1"/>
            <a:r>
              <a:rPr sz="3200" dirty="0"/>
              <a:t>Measures cluster similarity and overlap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269" y="1417638"/>
            <a:ext cx="2644124" cy="19625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017" y="4523165"/>
            <a:ext cx="5681202" cy="11430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6809264"/>
            <a:ext cx="3943692" cy="158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768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131" y="1753849"/>
            <a:ext cx="8769246" cy="791480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1142" y="1753849"/>
            <a:ext cx="8596859" cy="69254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504276-3019-36CF-D764-2CB2B1F17A9D}"/>
              </a:ext>
            </a:extLst>
          </p:cNvPr>
          <p:cNvSpPr txBox="1"/>
          <p:nvPr/>
        </p:nvSpPr>
        <p:spPr>
          <a:xfrm>
            <a:off x="5920248" y="266700"/>
            <a:ext cx="70119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b="1" dirty="0">
                <a:solidFill>
                  <a:srgbClr val="00B0F0"/>
                </a:solidFill>
              </a:rPr>
              <a:t>Comparative Evaluation</a:t>
            </a:r>
          </a:p>
        </p:txBody>
      </p:sp>
    </p:spTree>
    <p:extLst>
      <p:ext uri="{BB962C8B-B14F-4D97-AF65-F5344CB8AC3E}">
        <p14:creationId xmlns:p14="http://schemas.microsoft.com/office/powerpoint/2010/main" val="29311126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199" y="2400299"/>
            <a:ext cx="14445657" cy="74819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B6C7E5-F1C0-401D-A8F2-83EE620A71AC}"/>
              </a:ext>
            </a:extLst>
          </p:cNvPr>
          <p:cNvSpPr txBox="1"/>
          <p:nvPr/>
        </p:nvSpPr>
        <p:spPr>
          <a:xfrm>
            <a:off x="5920248" y="266700"/>
            <a:ext cx="70119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b="1" dirty="0">
                <a:solidFill>
                  <a:srgbClr val="00B0F0"/>
                </a:solidFill>
              </a:rPr>
              <a:t>Comparative Evaluation</a:t>
            </a:r>
          </a:p>
        </p:txBody>
      </p:sp>
    </p:spTree>
    <p:extLst>
      <p:ext uri="{BB962C8B-B14F-4D97-AF65-F5344CB8AC3E}">
        <p14:creationId xmlns:p14="http://schemas.microsoft.com/office/powerpoint/2010/main" val="42747236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998912"/>
              </p:ext>
            </p:extLst>
          </p:nvPr>
        </p:nvGraphicFramePr>
        <p:xfrm>
          <a:off x="3429000" y="1661160"/>
          <a:ext cx="12001501" cy="34823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3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83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9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07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3657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IN" sz="28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Silhouette Score ↑</a:t>
                      </a:r>
                      <a:endParaRPr lang="en-IN" sz="28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" marR="13716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Calinski–</a:t>
                      </a:r>
                    </a:p>
                    <a:p>
                      <a:pPr algn="ctr" rtl="0" fontAlgn="ctr"/>
                      <a:r>
                        <a:rPr lang="en-IN" sz="28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Harabasz </a:t>
                      </a:r>
                    </a:p>
                    <a:p>
                      <a:pPr algn="ctr" rtl="0" fontAlgn="ctr"/>
                      <a:r>
                        <a:rPr lang="en-IN" sz="28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Index ↑</a:t>
                      </a:r>
                      <a:endParaRPr lang="en-IN" sz="28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Davies– </a:t>
                      </a:r>
                      <a:r>
                        <a:rPr lang="en-IN" sz="2800" b="1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Bouldin</a:t>
                      </a:r>
                      <a:r>
                        <a:rPr lang="en-IN" sz="28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Index ↓</a:t>
                      </a:r>
                      <a:endParaRPr lang="en-IN" sz="28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" marR="13716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06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K-Means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0.309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" marR="13716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6219.92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1.0994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" marR="13716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58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Agglomerative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0.2622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" marR="13716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5562.25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1.2477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" marR="13716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06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DBSCAN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0.1481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" marR="13716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858.78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1.3306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" marR="13716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6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Birch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0.3224</a:t>
                      </a:r>
                      <a:endParaRPr lang="en-IN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" marR="13716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5277.53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1.1150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" marR="13716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06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GMM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0.2897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" marR="13716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5107.09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1.6652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" marR="13716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20248" y="266700"/>
            <a:ext cx="70119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b="1" dirty="0">
                <a:solidFill>
                  <a:srgbClr val="00B0F0"/>
                </a:solidFill>
              </a:rPr>
              <a:t>Comparative Evaluation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05E44B-0FE3-C48E-C580-5467CD1BF3A4}"/>
              </a:ext>
            </a:extLst>
          </p:cNvPr>
          <p:cNvSpPr txBox="1"/>
          <p:nvPr/>
        </p:nvSpPr>
        <p:spPr>
          <a:xfrm>
            <a:off x="533400" y="6743700"/>
            <a:ext cx="17373600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effectively reduced dimensionality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preserving the most significant variance and enabling clear visualization of the bean dataset.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and Birch achieved the best clustering performance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K-Means obtaining the highest Calinski–Harabasz Index (6219.92) and lowest Davies– Bouldin Index (1.0994), while Birch achieved the highest Silhouette Score (0.3224).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combination of PCA and clustering successfully identified natural groupings in the dataset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demonstrating its effectiveness for unsupervised pattern and data analysis.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74D72D-4C53-2F13-1134-27B96EDB5127}"/>
              </a:ext>
            </a:extLst>
          </p:cNvPr>
          <p:cNvSpPr txBox="1"/>
          <p:nvPr/>
        </p:nvSpPr>
        <p:spPr>
          <a:xfrm>
            <a:off x="838200" y="5614630"/>
            <a:ext cx="9144000" cy="927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Observations:</a:t>
            </a:r>
          </a:p>
        </p:txBody>
      </p:sp>
    </p:spTree>
    <p:extLst>
      <p:ext uri="{BB962C8B-B14F-4D97-AF65-F5344CB8AC3E}">
        <p14:creationId xmlns:p14="http://schemas.microsoft.com/office/powerpoint/2010/main" val="30111002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54548-C584-960F-7898-264E3D182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168F8FED-2B34-2301-1322-F4D91AF23B96}"/>
              </a:ext>
            </a:extLst>
          </p:cNvPr>
          <p:cNvSpPr/>
          <p:nvPr/>
        </p:nvSpPr>
        <p:spPr>
          <a:xfrm>
            <a:off x="13951601" y="9534525"/>
            <a:ext cx="4114800" cy="547688"/>
          </a:xfrm>
          <a:custGeom>
            <a:avLst/>
            <a:gdLst/>
            <a:ahLst/>
            <a:cxnLst/>
            <a:rect l="l" t="t" r="r" b="b"/>
            <a:pathLst>
              <a:path w="5486400" h="730250">
                <a:moveTo>
                  <a:pt x="0" y="0"/>
                </a:moveTo>
                <a:lnTo>
                  <a:pt x="5486400" y="0"/>
                </a:lnTo>
                <a:lnTo>
                  <a:pt x="5486400" y="730250"/>
                </a:lnTo>
                <a:lnTo>
                  <a:pt x="0" y="730250"/>
                </a:lnTo>
                <a:close/>
              </a:path>
            </a:pathLst>
          </a:custGeom>
          <a:blipFill>
            <a:blip r:embed="rId2">
              <a:alphaModFix amt="0"/>
            </a:blip>
            <a:stretch>
              <a:fillRect t="-96391" b="-9639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5FC656B-0998-B283-50BA-117FA86860B1}"/>
              </a:ext>
            </a:extLst>
          </p:cNvPr>
          <p:cNvSpPr txBox="1"/>
          <p:nvPr/>
        </p:nvSpPr>
        <p:spPr>
          <a:xfrm>
            <a:off x="7543800" y="419100"/>
            <a:ext cx="3048000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dirty="0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B9922A-F3B0-8698-2A6F-E0C41A003D46}"/>
              </a:ext>
            </a:extLst>
          </p:cNvPr>
          <p:cNvSpPr txBox="1"/>
          <p:nvPr/>
        </p:nvSpPr>
        <p:spPr>
          <a:xfrm>
            <a:off x="952500" y="3390900"/>
            <a:ext cx="16383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b="0" i="0" dirty="0">
                <a:solidFill>
                  <a:srgbClr val="3C40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KOKLU, M. and OZKAN, I.A., (202</a:t>
            </a:r>
            <a:r>
              <a:rPr lang="en-US" sz="2800" dirty="0">
                <a:solidFill>
                  <a:srgbClr val="3C40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b="0" i="0" dirty="0">
                <a:solidFill>
                  <a:srgbClr val="3C40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Multiclass Classification of Dry Beans Using Computer Vision and Machine Learning Techniques. Computers and Electronics in Agriculture, 174, 105507.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0" i="0" dirty="0">
                <a:solidFill>
                  <a:srgbClr val="3C40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DOI: </a:t>
            </a:r>
            <a:r>
              <a:rPr lang="en-US" sz="2800" b="0" i="0" u="none" strike="noStrike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https://doi.org/10.1016/j.compag.2020.105507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4CC540-FCA5-00DA-D902-1C86D01ADDF8}"/>
              </a:ext>
            </a:extLst>
          </p:cNvPr>
          <p:cNvSpPr txBox="1"/>
          <p:nvPr/>
        </p:nvSpPr>
        <p:spPr>
          <a:xfrm>
            <a:off x="952500" y="2357082"/>
            <a:ext cx="1463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https://www.kaggle.com/datasets/muratkokludataset/dry-bean-dataset</a:t>
            </a:r>
          </a:p>
        </p:txBody>
      </p:sp>
    </p:spTree>
    <p:extLst>
      <p:ext uri="{BB962C8B-B14F-4D97-AF65-F5344CB8AC3E}">
        <p14:creationId xmlns:p14="http://schemas.microsoft.com/office/powerpoint/2010/main" val="21571378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886200" y="1943100"/>
            <a:ext cx="10927387" cy="4630284"/>
            <a:chOff x="-816527" y="-787388"/>
            <a:chExt cx="14569849" cy="61737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753322" cy="5386325"/>
            </a:xfrm>
            <a:custGeom>
              <a:avLst/>
              <a:gdLst/>
              <a:ahLst/>
              <a:cxnLst/>
              <a:rect l="l" t="t" r="r" b="b"/>
              <a:pathLst>
                <a:path w="13753322" h="5386325">
                  <a:moveTo>
                    <a:pt x="0" y="0"/>
                  </a:moveTo>
                  <a:lnTo>
                    <a:pt x="13753322" y="0"/>
                  </a:lnTo>
                  <a:lnTo>
                    <a:pt x="13753322" y="5386325"/>
                  </a:lnTo>
                  <a:lnTo>
                    <a:pt x="0" y="53863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2626" b="3312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816527" y="-787388"/>
              <a:ext cx="13753325" cy="524344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12960"/>
                </a:lnSpc>
              </a:pPr>
              <a:r>
                <a:rPr lang="en-US" sz="12000" b="1" i="1" dirty="0">
                  <a:solidFill>
                    <a:srgbClr val="0070C0"/>
                  </a:solidFill>
                  <a:latin typeface="Bookmania Bold Italics"/>
                  <a:ea typeface="Bookmania Bold Italics"/>
                  <a:cs typeface="Bookmania Bold Italics"/>
                  <a:sym typeface="Bookmania Bold Italics"/>
                </a:rPr>
                <a:t>Thank You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9925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</TotalTime>
  <Words>1059</Words>
  <Application>Microsoft Office PowerPoint</Application>
  <PresentationFormat>Custom</PresentationFormat>
  <Paragraphs>454</Paragraphs>
  <Slides>30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Cambria Math</vt:lpstr>
      <vt:lpstr>Arial Bold</vt:lpstr>
      <vt:lpstr>Arial Black</vt:lpstr>
      <vt:lpstr>Montserrat</vt:lpstr>
      <vt:lpstr>Wingdings</vt:lpstr>
      <vt:lpstr>Times New Roman</vt:lpstr>
      <vt:lpstr>Bookmania Bold Italics</vt:lpstr>
      <vt:lpstr>Times New Roman Bold</vt:lpstr>
      <vt:lpstr>Calibri</vt:lpstr>
      <vt:lpstr>Arial</vt:lpstr>
      <vt:lpstr>ADLaM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Feature Extraction</vt:lpstr>
      <vt:lpstr>Feature Extraction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Clustering Evaluation Metrics: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Intelligent Machine Learning Framework for Beamforming Management in 6G-IoT Networks</dc:title>
  <dc:creator>eceai</dc:creator>
  <cp:lastModifiedBy>Dr. Venkata Subbarao Mandava</cp:lastModifiedBy>
  <cp:revision>16</cp:revision>
  <dcterms:created xsi:type="dcterms:W3CDTF">2006-08-16T00:00:00Z</dcterms:created>
  <dcterms:modified xsi:type="dcterms:W3CDTF">2026-06-22T16:45:49Z</dcterms:modified>
  <dc:identifier>DAHEIHgQs9s</dc:identifier>
</cp:coreProperties>
</file>